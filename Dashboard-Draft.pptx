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"/>
  </p:notesMasterIdLst>
  <p:sldIdLst>
    <p:sldId id="257" r:id="rId2"/>
    <p:sldId id="259" r:id="rId3"/>
    <p:sldId id="258" r:id="rId4"/>
  </p:sldIdLst>
  <p:sldSz cx="14400213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932B"/>
    <a:srgbClr val="397D2B"/>
    <a:srgbClr val="58904F"/>
    <a:srgbClr val="7DA878"/>
    <a:srgbClr val="224F8E"/>
    <a:srgbClr val="5F80AC"/>
    <a:srgbClr val="FCCB18"/>
    <a:srgbClr val="595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4659"/>
  </p:normalViewPr>
  <p:slideViewPr>
    <p:cSldViewPr snapToGrid="0">
      <p:cViewPr>
        <p:scale>
          <a:sx n="100" d="100"/>
          <a:sy n="100" d="100"/>
        </p:scale>
        <p:origin x="112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422453768800801"/>
          <c:y val="5.8255071825574926E-2"/>
          <c:w val="0.76914505209798023"/>
          <c:h val="0.829088581582505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84 Machinery</c:v>
                </c:pt>
                <c:pt idx="1">
                  <c:v>85 Electronics</c:v>
                </c:pt>
                <c:pt idx="2">
                  <c:v>87 Vehicles</c:v>
                </c:pt>
                <c:pt idx="3">
                  <c:v>44 Wood</c:v>
                </c:pt>
                <c:pt idx="4">
                  <c:v>48 Paper</c:v>
                </c:pt>
                <c:pt idx="5">
                  <c:v>27 Fuels</c:v>
                </c:pt>
                <c:pt idx="6">
                  <c:v>39 Plastics</c:v>
                </c:pt>
                <c:pt idx="7">
                  <c:v>90 Instruments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1850</c:v>
                </c:pt>
                <c:pt idx="1">
                  <c:v>1420</c:v>
                </c:pt>
                <c:pt idx="2">
                  <c:v>980</c:v>
                </c:pt>
                <c:pt idx="3">
                  <c:v>760</c:v>
                </c:pt>
                <c:pt idx="4">
                  <c:v>620</c:v>
                </c:pt>
                <c:pt idx="5">
                  <c:v>540</c:v>
                </c:pt>
                <c:pt idx="6">
                  <c:v>480</c:v>
                </c:pt>
                <c:pt idx="7">
                  <c:v>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12-5948-82DC-AE64D40153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Province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E8-4E45-8A06-D71F25F2FD0E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E8-4E45-8A06-D71F25F2FD0E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E8-4E45-8A06-D71F25F2FD0E}"/>
              </c:ext>
            </c:extLst>
          </c:dPt>
          <c:dPt>
            <c:idx val="3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EE8-4E45-8A06-D71F25F2FD0E}"/>
              </c:ext>
            </c:extLst>
          </c:dPt>
          <c:dPt>
            <c:idx val="4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EE8-4E45-8A06-D71F25F2FD0E}"/>
              </c:ext>
            </c:extLst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EE8-4E45-8A06-D71F25F2FD0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E8-4E45-8A06-D71F25F2FD0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E8-4E45-8A06-D71F25F2FD0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E8-4E45-8A06-D71F25F2FD0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EE8-4E45-8A06-D71F25F2FD0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EE8-4E45-8A06-D71F25F2FD0E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EE8-4E45-8A06-D71F25F2FD0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Ontario</c:v>
                </c:pt>
                <c:pt idx="1">
                  <c:v>Quebec</c:v>
                </c:pt>
                <c:pt idx="2">
                  <c:v>BC</c:v>
                </c:pt>
                <c:pt idx="3">
                  <c:v>Alberta</c:v>
                </c:pt>
                <c:pt idx="4">
                  <c:v>Manitoba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EE8-4E45-8A06-D71F25F2F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Brazil</c:v>
                </c:pt>
              </c:strCache>
            </c:strRef>
          </c:tx>
          <c:spPr>
            <a:ln w="31750" cap="flat">
              <a:solidFill>
                <a:srgbClr val="3A7D2C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Jul</c:v>
                </c:pt>
                <c:pt idx="4">
                  <c:v>Sep</c:v>
                </c:pt>
                <c:pt idx="5">
                  <c:v>Nov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102</c:v>
                </c:pt>
                <c:pt idx="2">
                  <c:v>108</c:v>
                </c:pt>
                <c:pt idx="3">
                  <c:v>98</c:v>
                </c:pt>
                <c:pt idx="4">
                  <c:v>115</c:v>
                </c:pt>
                <c:pt idx="5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0B-544C-9C67-D6D5B09F51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Mexico</c:v>
                </c:pt>
              </c:strCache>
            </c:strRef>
          </c:tx>
          <c:spPr>
            <a:ln w="31750" cap="flat">
              <a:solidFill>
                <a:srgbClr val="B0B8C8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Jul</c:v>
                </c:pt>
                <c:pt idx="4">
                  <c:v>Sep</c:v>
                </c:pt>
                <c:pt idx="5">
                  <c:v>Nov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105</c:v>
                </c:pt>
                <c:pt idx="1">
                  <c:v>108</c:v>
                </c:pt>
                <c:pt idx="2">
                  <c:v>112</c:v>
                </c:pt>
                <c:pt idx="3">
                  <c:v>110</c:v>
                </c:pt>
                <c:pt idx="4">
                  <c:v>114</c:v>
                </c:pt>
                <c:pt idx="5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0B-544C-9C67-D6D5B09F51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Japan</c:v>
                </c:pt>
              </c:strCache>
            </c:strRef>
          </c:tx>
          <c:spPr>
            <a:ln w="31750" cap="flat">
              <a:solidFill>
                <a:srgbClr val="B0B8C8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Jul</c:v>
                </c:pt>
                <c:pt idx="4">
                  <c:v>Sep</c:v>
                </c:pt>
                <c:pt idx="5">
                  <c:v>Nov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112</c:v>
                </c:pt>
                <c:pt idx="2">
                  <c:v>115</c:v>
                </c:pt>
                <c:pt idx="3">
                  <c:v>113</c:v>
                </c:pt>
                <c:pt idx="4">
                  <c:v>117</c:v>
                </c:pt>
                <c:pt idx="5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0B-544C-9C67-D6D5B09F5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($M)</c:v>
                </c:pt>
              </c:strCache>
            </c:strRef>
          </c:tx>
          <c:spPr>
            <a:solidFill>
              <a:srgbClr val="B0B8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6A8-DD4D-B1C0-C1355568013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6A8-DD4D-B1C0-C1355568013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6A8-DD4D-B1C0-C1355568013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6A8-DD4D-B1C0-C1355568013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6A8-DD4D-B1C0-C1355568013F}"/>
              </c:ext>
            </c:extLst>
          </c:dPt>
          <c:dPt>
            <c:idx val="5"/>
            <c:invertIfNegative val="0"/>
            <c:bubble3D val="0"/>
            <c:spPr>
              <a:solidFill>
                <a:srgbClr val="3A7D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6A8-DD4D-B1C0-C1355568013F}"/>
              </c:ext>
            </c:extLst>
          </c:dPt>
          <c:dPt>
            <c:idx val="6"/>
            <c:invertIfNegative val="0"/>
            <c:bubble3D val="0"/>
            <c:spPr>
              <a:solidFill>
                <a:srgbClr val="3A7D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86A8-DD4D-B1C0-C135556801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Manitoba</c:v>
                </c:pt>
                <c:pt idx="1">
                  <c:v>Saskatchewan</c:v>
                </c:pt>
                <c:pt idx="2">
                  <c:v>Nova Scotia</c:v>
                </c:pt>
                <c:pt idx="3">
                  <c:v>Alberta</c:v>
                </c:pt>
                <c:pt idx="4">
                  <c:v>Quebec</c:v>
                </c:pt>
                <c:pt idx="5">
                  <c:v>BC</c:v>
                </c:pt>
                <c:pt idx="6">
                  <c:v>Ontario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48</c:v>
                </c:pt>
                <c:pt idx="4">
                  <c:v>95</c:v>
                </c:pt>
                <c:pt idx="5">
                  <c:v>110</c:v>
                </c:pt>
                <c:pt idx="6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6A8-DD4D-B1C0-C135556801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84 Machinery</c:v>
                </c:pt>
                <c:pt idx="1">
                  <c:v>85 Electronics</c:v>
                </c:pt>
                <c:pt idx="2">
                  <c:v>87 Vehicles</c:v>
                </c:pt>
                <c:pt idx="3">
                  <c:v>44 Wood</c:v>
                </c:pt>
                <c:pt idx="4">
                  <c:v>48 Paper</c:v>
                </c:pt>
                <c:pt idx="5">
                  <c:v>27 Fuels</c:v>
                </c:pt>
                <c:pt idx="6">
                  <c:v>39 Plastics</c:v>
                </c:pt>
                <c:pt idx="7">
                  <c:v>90 Instruments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1850</c:v>
                </c:pt>
                <c:pt idx="1">
                  <c:v>1420</c:v>
                </c:pt>
                <c:pt idx="2">
                  <c:v>980</c:v>
                </c:pt>
                <c:pt idx="3">
                  <c:v>760</c:v>
                </c:pt>
                <c:pt idx="4">
                  <c:v>620</c:v>
                </c:pt>
                <c:pt idx="5">
                  <c:v>540</c:v>
                </c:pt>
                <c:pt idx="6">
                  <c:v>480</c:v>
                </c:pt>
                <c:pt idx="7">
                  <c:v>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12-5948-82DC-AE64D40153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Province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E8-4E45-8A06-D71F25F2FD0E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E8-4E45-8A06-D71F25F2FD0E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E8-4E45-8A06-D71F25F2FD0E}"/>
              </c:ext>
            </c:extLst>
          </c:dPt>
          <c:dPt>
            <c:idx val="3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EE8-4E45-8A06-D71F25F2FD0E}"/>
              </c:ext>
            </c:extLst>
          </c:dPt>
          <c:dPt>
            <c:idx val="4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EE8-4E45-8A06-D71F25F2FD0E}"/>
              </c:ext>
            </c:extLst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EE8-4E45-8A06-D71F25F2FD0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E8-4E45-8A06-D71F25F2FD0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E8-4E45-8A06-D71F25F2FD0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E8-4E45-8A06-D71F25F2FD0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EE8-4E45-8A06-D71F25F2FD0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EE8-4E45-8A06-D71F25F2FD0E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EE8-4E45-8A06-D71F25F2FD0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Ontario</c:v>
                </c:pt>
                <c:pt idx="1">
                  <c:v>Quebec</c:v>
                </c:pt>
                <c:pt idx="2">
                  <c:v>BC</c:v>
                </c:pt>
                <c:pt idx="3">
                  <c:v>Alberta</c:v>
                </c:pt>
                <c:pt idx="4">
                  <c:v>Manitoba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EE8-4E45-8A06-D71F25F2F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Brazil</c:v>
                </c:pt>
              </c:strCache>
            </c:strRef>
          </c:tx>
          <c:spPr>
            <a:ln w="31750" cap="flat">
              <a:solidFill>
                <a:srgbClr val="3A7D2C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Jul</c:v>
                </c:pt>
                <c:pt idx="4">
                  <c:v>Sep</c:v>
                </c:pt>
                <c:pt idx="5">
                  <c:v>Nov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102</c:v>
                </c:pt>
                <c:pt idx="2">
                  <c:v>108</c:v>
                </c:pt>
                <c:pt idx="3">
                  <c:v>98</c:v>
                </c:pt>
                <c:pt idx="4">
                  <c:v>115</c:v>
                </c:pt>
                <c:pt idx="5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0B-544C-9C67-D6D5B09F51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Mexico</c:v>
                </c:pt>
              </c:strCache>
            </c:strRef>
          </c:tx>
          <c:spPr>
            <a:ln w="31750" cap="flat">
              <a:solidFill>
                <a:srgbClr val="B0B8C8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Jul</c:v>
                </c:pt>
                <c:pt idx="4">
                  <c:v>Sep</c:v>
                </c:pt>
                <c:pt idx="5">
                  <c:v>Nov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105</c:v>
                </c:pt>
                <c:pt idx="1">
                  <c:v>108</c:v>
                </c:pt>
                <c:pt idx="2">
                  <c:v>112</c:v>
                </c:pt>
                <c:pt idx="3">
                  <c:v>110</c:v>
                </c:pt>
                <c:pt idx="4">
                  <c:v>114</c:v>
                </c:pt>
                <c:pt idx="5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0B-544C-9C67-D6D5B09F51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Japan</c:v>
                </c:pt>
              </c:strCache>
            </c:strRef>
          </c:tx>
          <c:spPr>
            <a:ln w="31750" cap="flat">
              <a:solidFill>
                <a:srgbClr val="B0B8C8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Jul</c:v>
                </c:pt>
                <c:pt idx="4">
                  <c:v>Sep</c:v>
                </c:pt>
                <c:pt idx="5">
                  <c:v>Nov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112</c:v>
                </c:pt>
                <c:pt idx="2">
                  <c:v>115</c:v>
                </c:pt>
                <c:pt idx="3">
                  <c:v>113</c:v>
                </c:pt>
                <c:pt idx="4">
                  <c:v>117</c:v>
                </c:pt>
                <c:pt idx="5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0B-544C-9C67-D6D5B09F5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($M)</c:v>
                </c:pt>
              </c:strCache>
            </c:strRef>
          </c:tx>
          <c:spPr>
            <a:solidFill>
              <a:srgbClr val="B0B8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6A8-DD4D-B1C0-C1355568013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6A8-DD4D-B1C0-C1355568013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6A8-DD4D-B1C0-C1355568013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6A8-DD4D-B1C0-C1355568013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6A8-DD4D-B1C0-C1355568013F}"/>
              </c:ext>
            </c:extLst>
          </c:dPt>
          <c:dPt>
            <c:idx val="5"/>
            <c:invertIfNegative val="0"/>
            <c:bubble3D val="0"/>
            <c:spPr>
              <a:solidFill>
                <a:srgbClr val="3A7D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6A8-DD4D-B1C0-C1355568013F}"/>
              </c:ext>
            </c:extLst>
          </c:dPt>
          <c:dPt>
            <c:idx val="6"/>
            <c:invertIfNegative val="0"/>
            <c:bubble3D val="0"/>
            <c:spPr>
              <a:solidFill>
                <a:srgbClr val="3A7D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86A8-DD4D-B1C0-C135556801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Manitoba</c:v>
                </c:pt>
                <c:pt idx="1">
                  <c:v>Saskatchewan</c:v>
                </c:pt>
                <c:pt idx="2">
                  <c:v>Nova Scotia</c:v>
                </c:pt>
                <c:pt idx="3">
                  <c:v>Alberta</c:v>
                </c:pt>
                <c:pt idx="4">
                  <c:v>Quebec</c:v>
                </c:pt>
                <c:pt idx="5">
                  <c:v>BC</c:v>
                </c:pt>
                <c:pt idx="6">
                  <c:v>Ontario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48</c:v>
                </c:pt>
                <c:pt idx="4">
                  <c:v>95</c:v>
                </c:pt>
                <c:pt idx="5">
                  <c:v>110</c:v>
                </c:pt>
                <c:pt idx="6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6A8-DD4D-B1C0-C135556801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84 Machinery</c:v>
                </c:pt>
                <c:pt idx="1">
                  <c:v>85 Electronics</c:v>
                </c:pt>
                <c:pt idx="2">
                  <c:v>87 Vehicles</c:v>
                </c:pt>
                <c:pt idx="3">
                  <c:v>44 Wood</c:v>
                </c:pt>
                <c:pt idx="4">
                  <c:v>48 Paper</c:v>
                </c:pt>
                <c:pt idx="5">
                  <c:v>27 Fuels</c:v>
                </c:pt>
                <c:pt idx="6">
                  <c:v>39 Plastics</c:v>
                </c:pt>
                <c:pt idx="7">
                  <c:v>90 Instruments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1850</c:v>
                </c:pt>
                <c:pt idx="1">
                  <c:v>1420</c:v>
                </c:pt>
                <c:pt idx="2">
                  <c:v>980</c:v>
                </c:pt>
                <c:pt idx="3">
                  <c:v>760</c:v>
                </c:pt>
                <c:pt idx="4">
                  <c:v>620</c:v>
                </c:pt>
                <c:pt idx="5">
                  <c:v>540</c:v>
                </c:pt>
                <c:pt idx="6">
                  <c:v>480</c:v>
                </c:pt>
                <c:pt idx="7">
                  <c:v>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12-5948-82DC-AE64D40153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 Value ($M)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E3A-084B-AD9F-A19A56AFA3F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3A-084B-AD9F-A19A56AFA3F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E3A-084B-AD9F-A19A56AFA3F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E3A-084B-AD9F-A19A56AFA3F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E3A-084B-AD9F-A19A56AFA3F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E3A-084B-AD9F-A19A56AFA3FC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E3A-084B-AD9F-A19A56AFA3F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9E3A-084B-AD9F-A19A56AFA3FC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E3A-084B-AD9F-A19A56AFA3FC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9E3A-084B-AD9F-A19A56AFA3F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USA</c:v>
                </c:pt>
                <c:pt idx="1">
                  <c:v>China</c:v>
                </c:pt>
                <c:pt idx="2">
                  <c:v>UK</c:v>
                </c:pt>
                <c:pt idx="3">
                  <c:v>Germany</c:v>
                </c:pt>
                <c:pt idx="4">
                  <c:v>Japan</c:v>
                </c:pt>
                <c:pt idx="5">
                  <c:v>Mexico</c:v>
                </c:pt>
                <c:pt idx="6">
                  <c:v>Brazil</c:v>
                </c:pt>
                <c:pt idx="7">
                  <c:v>France</c:v>
                </c:pt>
                <c:pt idx="8">
                  <c:v>S. Korea</c:v>
                </c:pt>
                <c:pt idx="9">
                  <c:v>Netherlands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4200</c:v>
                </c:pt>
                <c:pt idx="1">
                  <c:v>720</c:v>
                </c:pt>
                <c:pt idx="2">
                  <c:v>490</c:v>
                </c:pt>
                <c:pt idx="3">
                  <c:v>440</c:v>
                </c:pt>
                <c:pt idx="4">
                  <c:v>380</c:v>
                </c:pt>
                <c:pt idx="5">
                  <c:v>350</c:v>
                </c:pt>
                <c:pt idx="6">
                  <c:v>310</c:v>
                </c:pt>
                <c:pt idx="7">
                  <c:v>285</c:v>
                </c:pt>
                <c:pt idx="8">
                  <c:v>260</c:v>
                </c:pt>
                <c:pt idx="9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9E3A-084B-AD9F-A19A56AFA3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Brazil Share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Coffee &amp; Tea</c:v>
                </c:pt>
                <c:pt idx="1">
                  <c:v>Iron &amp; Steel</c:v>
                </c:pt>
                <c:pt idx="2">
                  <c:v>Meat</c:v>
                </c:pt>
                <c:pt idx="3">
                  <c:v>Organic Chem.</c:v>
                </c:pt>
                <c:pt idx="4">
                  <c:v>Footwear</c:v>
                </c:pt>
                <c:pt idx="5">
                  <c:v>Machinery</c:v>
                </c:pt>
                <c:pt idx="6">
                  <c:v>Plastics</c:v>
                </c:pt>
                <c:pt idx="7">
                  <c:v>Electronics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18.399999999999999</c:v>
                </c:pt>
                <c:pt idx="1">
                  <c:v>12.1</c:v>
                </c:pt>
                <c:pt idx="2">
                  <c:v>9.8000000000000007</c:v>
                </c:pt>
                <c:pt idx="3">
                  <c:v>7.2</c:v>
                </c:pt>
                <c:pt idx="4">
                  <c:v>5.4</c:v>
                </c:pt>
                <c:pt idx="5">
                  <c:v>3.1</c:v>
                </c:pt>
                <c:pt idx="6">
                  <c:v>2.8</c:v>
                </c:pt>
                <c:pt idx="7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76-2549-9C7E-381AD40A3B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100966240345502E-2"/>
          <c:y val="6.1111111111111109E-2"/>
          <c:w val="0.92395869243463757"/>
          <c:h val="0.788111111111111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Change (pp)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Coffee &amp; Tea</c:v>
                </c:pt>
                <c:pt idx="1">
                  <c:v>Iron &amp; Steel</c:v>
                </c:pt>
                <c:pt idx="2">
                  <c:v>Meat</c:v>
                </c:pt>
                <c:pt idx="3">
                  <c:v>Organic Chem.</c:v>
                </c:pt>
                <c:pt idx="4">
                  <c:v>Footwear</c:v>
                </c:pt>
                <c:pt idx="5">
                  <c:v>Machinery</c:v>
                </c:pt>
                <c:pt idx="6">
                  <c:v>Plastics</c:v>
                </c:pt>
                <c:pt idx="7">
                  <c:v>Electronics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2.1</c:v>
                </c:pt>
                <c:pt idx="1">
                  <c:v>0.8</c:v>
                </c:pt>
                <c:pt idx="2">
                  <c:v>-1.2</c:v>
                </c:pt>
                <c:pt idx="3">
                  <c:v>0.4</c:v>
                </c:pt>
                <c:pt idx="4">
                  <c:v>-0.6</c:v>
                </c:pt>
                <c:pt idx="5">
                  <c:v>0.2</c:v>
                </c:pt>
                <c:pt idx="6">
                  <c:v>-0.3</c:v>
                </c:pt>
                <c:pt idx="7">
                  <c:v>-0.1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EB-A245-A460-952A4DE461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Province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E8-4E45-8A06-D71F25F2FD0E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E8-4E45-8A06-D71F25F2FD0E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E8-4E45-8A06-D71F25F2FD0E}"/>
              </c:ext>
            </c:extLst>
          </c:dPt>
          <c:dPt>
            <c:idx val="3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EE8-4E45-8A06-D71F25F2FD0E}"/>
              </c:ext>
            </c:extLst>
          </c:dPt>
          <c:dPt>
            <c:idx val="4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EE8-4E45-8A06-D71F25F2FD0E}"/>
              </c:ext>
            </c:extLst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EE8-4E45-8A06-D71F25F2FD0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E8-4E45-8A06-D71F25F2FD0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E8-4E45-8A06-D71F25F2FD0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E8-4E45-8A06-D71F25F2FD0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EE8-4E45-8A06-D71F25F2FD0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EE8-4E45-8A06-D71F25F2FD0E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EE8-4E45-8A06-D71F25F2FD0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Ontario</c:v>
                </c:pt>
                <c:pt idx="1">
                  <c:v>Quebec</c:v>
                </c:pt>
                <c:pt idx="2">
                  <c:v>BC</c:v>
                </c:pt>
                <c:pt idx="3">
                  <c:v>Alberta</c:v>
                </c:pt>
                <c:pt idx="4">
                  <c:v>Manitoba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EE8-4E45-8A06-D71F25F2F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62A0A-F468-E643-B735-69FAEAAE3E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57475" y="1143000"/>
            <a:ext cx="1543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709CE-D555-3F48-911B-D0AD0BA4E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8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1pPr>
    <a:lvl2pPr marL="870555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2pPr>
    <a:lvl3pPr marL="1741109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3pPr>
    <a:lvl4pPr marL="2611664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4pPr>
    <a:lvl5pPr marL="3482218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5pPr>
    <a:lvl6pPr marL="4352773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6pPr>
    <a:lvl7pPr marL="5223327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7pPr>
    <a:lvl8pPr marL="6093882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8pPr>
    <a:lvl9pPr marL="6964436" algn="l" defTabSz="1741109" rtl="0" eaLnBrk="1" latinLnBrk="0" hangingPunct="1">
      <a:defRPr sz="22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57475" y="1143000"/>
            <a:ext cx="1543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709CE-D555-3F48-911B-D0AD0BA4EA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96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DE20B-4D27-3447-B0F6-2FC5DD29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55055-F518-9B11-D892-E15DB6976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57475" y="1143000"/>
            <a:ext cx="1543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448CA-38F6-710D-2145-3801646E6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1C729-44A2-E2E2-344F-BBC6EC7DB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709CE-D555-3F48-911B-D0AD0BA4EA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44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9654-E634-A873-FAF5-83A6250A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F924E-BB56-2377-66E7-C1D828A94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57475" y="1143000"/>
            <a:ext cx="15430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C82DE-795E-7EA4-BCE4-8298E435E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E1A18-79A1-B2E8-9AA6-FEEDD5E7D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709CE-D555-3F48-911B-D0AD0BA4EA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39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4713405"/>
            <a:ext cx="12240181" cy="10026815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15126892"/>
            <a:ext cx="10800160" cy="6953434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0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5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7180114"/>
            <a:ext cx="12420184" cy="11980175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19273626"/>
            <a:ext cx="12420184" cy="6300091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5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7666780"/>
            <a:ext cx="6120091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7666780"/>
            <a:ext cx="6120091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8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533362"/>
            <a:ext cx="12420184" cy="556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7060106"/>
            <a:ext cx="6091964" cy="346004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10520155"/>
            <a:ext cx="6091964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7060106"/>
            <a:ext cx="6121966" cy="346004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10520155"/>
            <a:ext cx="6121966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3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8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46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920028"/>
            <a:ext cx="4644444" cy="672009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4146734"/>
            <a:ext cx="7290108" cy="20466969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8640127"/>
            <a:ext cx="4644444" cy="16006905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920028"/>
            <a:ext cx="4644444" cy="672009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4146734"/>
            <a:ext cx="7290108" cy="20466969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8640127"/>
            <a:ext cx="4644444" cy="16006905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4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8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1533356"/>
            <a:ext cx="3105046" cy="24407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1533356"/>
            <a:ext cx="9135135" cy="24407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6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1533362"/>
            <a:ext cx="12420184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7666780"/>
            <a:ext cx="12420184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26693734"/>
            <a:ext cx="3240048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F4EF0-31CE-AE47-96CC-9439076AA3F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26693734"/>
            <a:ext cx="4860072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26693734"/>
            <a:ext cx="3240048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017BA-FD9C-5645-95C5-3E66AD46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4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hart" Target="../charts/chart1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11" Type="http://schemas.openxmlformats.org/officeDocument/2006/relationships/chart" Target="../charts/chart4.xml"/><Relationship Id="rId5" Type="http://schemas.openxmlformats.org/officeDocument/2006/relationships/chart" Target="../charts/chart2.xml"/><Relationship Id="rId10" Type="http://schemas.openxmlformats.org/officeDocument/2006/relationships/chart" Target="../charts/chart3.xml"/><Relationship Id="rId4" Type="http://schemas.openxmlformats.org/officeDocument/2006/relationships/image" Target="../media/image1.jpe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hart" Target="../charts/chart8.xml"/><Relationship Id="rId3" Type="http://schemas.openxmlformats.org/officeDocument/2006/relationships/chart" Target="../charts/chart5.xml"/><Relationship Id="rId7" Type="http://schemas.openxmlformats.org/officeDocument/2006/relationships/image" Target="../media/image3.png"/><Relationship Id="rId12" Type="http://schemas.openxmlformats.org/officeDocument/2006/relationships/chart" Target="../charts/chart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11" Type="http://schemas.openxmlformats.org/officeDocument/2006/relationships/image" Target="../media/image7.png"/><Relationship Id="rId5" Type="http://schemas.openxmlformats.org/officeDocument/2006/relationships/chart" Target="../charts/chart6.xml"/><Relationship Id="rId10" Type="http://schemas.openxmlformats.org/officeDocument/2006/relationships/image" Target="../media/image5.pn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image" Target="../media/image8.png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image" Target="../media/image1.jpeg"/><Relationship Id="rId4" Type="http://schemas.openxmlformats.org/officeDocument/2006/relationships/chart" Target="../charts/chart9.xml"/><Relationship Id="rId9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2">
            <a:extLst>
              <a:ext uri="{FF2B5EF4-FFF2-40B4-BE49-F238E27FC236}">
                <a16:creationId xmlns:a16="http://schemas.microsoft.com/office/drawing/2014/main" id="{6794A55B-52BA-A1BC-B689-AEE73F23C36D}"/>
              </a:ext>
            </a:extLst>
          </p:cNvPr>
          <p:cNvSpPr/>
          <p:nvPr/>
        </p:nvSpPr>
        <p:spPr>
          <a:xfrm>
            <a:off x="706315" y="3723013"/>
            <a:ext cx="343435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4D3B5E9-F036-E078-61CC-5D2B9AFCD0E4}"/>
              </a:ext>
            </a:extLst>
          </p:cNvPr>
          <p:cNvSpPr/>
          <p:nvPr/>
        </p:nvSpPr>
        <p:spPr>
          <a:xfrm>
            <a:off x="121921" y="12047601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Performance</a:t>
            </a:r>
            <a:endParaRPr lang="en-US" sz="2800" dirty="0">
              <a:solidFill>
                <a:srgbClr val="52515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BFE88E43-05C5-4201-BDBE-CA97C036A035}"/>
              </a:ext>
            </a:extLst>
          </p:cNvPr>
          <p:cNvSpPr/>
          <p:nvPr/>
        </p:nvSpPr>
        <p:spPr>
          <a:xfrm>
            <a:off x="706315" y="3723014"/>
            <a:ext cx="59997" cy="1259935"/>
          </a:xfrm>
          <a:prstGeom prst="rect">
            <a:avLst/>
          </a:prstGeom>
          <a:solidFill>
            <a:srgbClr val="224F8E"/>
          </a:solidFill>
          <a:ln w="12700">
            <a:solidFill>
              <a:srgbClr val="224F8E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E519062-5689-2EFC-567A-8318CCB2FDBC}"/>
              </a:ext>
            </a:extLst>
          </p:cNvPr>
          <p:cNvSpPr/>
          <p:nvPr/>
        </p:nvSpPr>
        <p:spPr>
          <a:xfrm>
            <a:off x="1283552" y="3829989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224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200" dirty="0">
              <a:solidFill>
                <a:srgbClr val="224F8E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451A32F-3F69-4747-9165-24A87BD0CD03}"/>
              </a:ext>
            </a:extLst>
          </p:cNvPr>
          <p:cNvSpPr/>
          <p:nvPr/>
        </p:nvSpPr>
        <p:spPr>
          <a:xfrm>
            <a:off x="1135024" y="4453776"/>
            <a:ext cx="3245636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Canada Export Value – All countries</a:t>
            </a:r>
            <a:endParaRPr lang="en-US" sz="1312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2769476-C912-D08C-AE95-6C7342786F28}"/>
              </a:ext>
            </a:extLst>
          </p:cNvPr>
          <p:cNvSpPr/>
          <p:nvPr/>
        </p:nvSpPr>
        <p:spPr>
          <a:xfrm>
            <a:off x="1231019" y="4705763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vs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87DD85-CD13-D540-662F-72C61E26F9AC}"/>
              </a:ext>
            </a:extLst>
          </p:cNvPr>
          <p:cNvCxnSpPr/>
          <p:nvPr/>
        </p:nvCxnSpPr>
        <p:spPr>
          <a:xfrm flipV="1">
            <a:off x="1145932" y="4705763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27">
            <a:extLst>
              <a:ext uri="{FF2B5EF4-FFF2-40B4-BE49-F238E27FC236}">
                <a16:creationId xmlns:a16="http://schemas.microsoft.com/office/drawing/2014/main" id="{EDBA6DB6-CFD5-2EAD-878D-67C1C1EA27A6}"/>
              </a:ext>
            </a:extLst>
          </p:cNvPr>
          <p:cNvSpPr/>
          <p:nvPr/>
        </p:nvSpPr>
        <p:spPr>
          <a:xfrm>
            <a:off x="235440" y="5358014"/>
            <a:ext cx="6453224" cy="352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TRADE TREND — ALL PARTNERS</a:t>
            </a:r>
            <a:endParaRPr lang="en-US" sz="1500" dirty="0">
              <a:solidFill>
                <a:srgbClr val="59595B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38C3275-A994-F625-AC39-273B29EDAB55}"/>
              </a:ext>
            </a:extLst>
          </p:cNvPr>
          <p:cNvCxnSpPr/>
          <p:nvPr/>
        </p:nvCxnSpPr>
        <p:spPr>
          <a:xfrm>
            <a:off x="7162" y="2141342"/>
            <a:ext cx="14399166" cy="0"/>
          </a:xfrm>
          <a:prstGeom prst="line">
            <a:avLst/>
          </a:prstGeom>
          <a:ln w="41275" cmpd="sng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Chart 0">
            <a:extLst>
              <a:ext uri="{FF2B5EF4-FFF2-40B4-BE49-F238E27FC236}">
                <a16:creationId xmlns:a16="http://schemas.microsoft.com/office/drawing/2014/main" id="{B00B6148-47EE-CAF0-371A-82B27B6690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3552477"/>
              </p:ext>
            </p:extLst>
          </p:nvPr>
        </p:nvGraphicFramePr>
        <p:xfrm>
          <a:off x="749786" y="17387411"/>
          <a:ext cx="6631831" cy="2834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" name="Text 4">
            <a:extLst>
              <a:ext uri="{FF2B5EF4-FFF2-40B4-BE49-F238E27FC236}">
                <a16:creationId xmlns:a16="http://schemas.microsoft.com/office/drawing/2014/main" id="{2F295D05-A3AB-9784-7857-2EA79D889050}"/>
              </a:ext>
            </a:extLst>
          </p:cNvPr>
          <p:cNvSpPr/>
          <p:nvPr/>
        </p:nvSpPr>
        <p:spPr>
          <a:xfrm>
            <a:off x="664850" y="16636663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Which products drive the most trade value · grouped by HS chapter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B1DE3D-8AFD-EEDF-3EC6-1734F63AF296}"/>
              </a:ext>
            </a:extLst>
          </p:cNvPr>
          <p:cNvSpPr/>
          <p:nvPr/>
        </p:nvSpPr>
        <p:spPr>
          <a:xfrm>
            <a:off x="0" y="-16837"/>
            <a:ext cx="14399166" cy="129322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A4056A3F-7D5F-E0D6-FD96-0E45A0A5A30E}"/>
              </a:ext>
            </a:extLst>
          </p:cNvPr>
          <p:cNvSpPr/>
          <p:nvPr/>
        </p:nvSpPr>
        <p:spPr>
          <a:xfrm>
            <a:off x="424598" y="160045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Arial Narrow" panose="020B0604020202020204" pitchFamily="34" charset="0"/>
              </a:rPr>
              <a:t>Canada Trade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2" descr="FCBB 🇨🇦🇧🇷 (@fcbbdigital) • Instagram photos and videos">
            <a:extLst>
              <a:ext uri="{FF2B5EF4-FFF2-40B4-BE49-F238E27FC236}">
                <a16:creationId xmlns:a16="http://schemas.microsoft.com/office/drawing/2014/main" id="{4F529049-8D9C-835F-83CD-1B11F794C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477" y="267830"/>
            <a:ext cx="1472123" cy="1536406"/>
          </a:xfrm>
          <a:prstGeom prst="rect">
            <a:avLst/>
          </a:prstGeom>
          <a:noFill/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D024B81A-6B46-2EA7-D5CC-E933DA34FF4D}"/>
              </a:ext>
            </a:extLst>
          </p:cNvPr>
          <p:cNvSpPr/>
          <p:nvPr/>
        </p:nvSpPr>
        <p:spPr>
          <a:xfrm>
            <a:off x="424598" y="927862"/>
            <a:ext cx="6173931" cy="159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 flow, balance, and year-over-year trend · 2024–2025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1956CFC7-6889-4810-ED77-6D7AC9F9B3F6}"/>
              </a:ext>
            </a:extLst>
          </p:cNvPr>
          <p:cNvSpPr/>
          <p:nvPr/>
        </p:nvSpPr>
        <p:spPr>
          <a:xfrm>
            <a:off x="10698135" y="1683177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 2024 – Apr 2025</a:t>
            </a: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8825C06C-9E53-0BA4-A8AF-76F4C2B9D009}"/>
              </a:ext>
            </a:extLst>
          </p:cNvPr>
          <p:cNvSpPr/>
          <p:nvPr/>
        </p:nvSpPr>
        <p:spPr>
          <a:xfrm rot="10800000">
            <a:off x="13056444" y="1808619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8C8506D2-E443-69F9-7294-1E83F7157A99}"/>
              </a:ext>
            </a:extLst>
          </p:cNvPr>
          <p:cNvSpPr/>
          <p:nvPr/>
        </p:nvSpPr>
        <p:spPr>
          <a:xfrm>
            <a:off x="8059764" y="1679683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Trade Type</a:t>
            </a:r>
          </a:p>
        </p:txBody>
      </p:sp>
      <p:sp>
        <p:nvSpPr>
          <p:cNvPr id="40" name="Triangle 39">
            <a:extLst>
              <a:ext uri="{FF2B5EF4-FFF2-40B4-BE49-F238E27FC236}">
                <a16:creationId xmlns:a16="http://schemas.microsoft.com/office/drawing/2014/main" id="{1580AC01-94B3-3D24-D90D-2A216E1DE3BA}"/>
              </a:ext>
            </a:extLst>
          </p:cNvPr>
          <p:cNvSpPr/>
          <p:nvPr/>
        </p:nvSpPr>
        <p:spPr>
          <a:xfrm rot="10800000">
            <a:off x="10418073" y="1805125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94854B9B-D9CF-3E96-0618-8F9E508D8710}"/>
              </a:ext>
            </a:extLst>
          </p:cNvPr>
          <p:cNvSpPr/>
          <p:nvPr/>
        </p:nvSpPr>
        <p:spPr>
          <a:xfrm>
            <a:off x="5421393" y="1674659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Province</a:t>
            </a:r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91562149-5BCC-EDE2-122E-B50FB812A107}"/>
              </a:ext>
            </a:extLst>
          </p:cNvPr>
          <p:cNvSpPr/>
          <p:nvPr/>
        </p:nvSpPr>
        <p:spPr>
          <a:xfrm rot="10800000">
            <a:off x="7779702" y="1800101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46F8E4BE-8720-01FF-B166-5A8DABAC7A49}"/>
              </a:ext>
            </a:extLst>
          </p:cNvPr>
          <p:cNvSpPr/>
          <p:nvPr/>
        </p:nvSpPr>
        <p:spPr>
          <a:xfrm>
            <a:off x="2783022" y="1669523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Commodity</a:t>
            </a:r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5FE11C35-ED3C-2FFF-0C8A-E7E24C332EEF}"/>
              </a:ext>
            </a:extLst>
          </p:cNvPr>
          <p:cNvSpPr/>
          <p:nvPr/>
        </p:nvSpPr>
        <p:spPr>
          <a:xfrm rot="10800000">
            <a:off x="5141331" y="1794965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DE9E1D26-C05B-948D-546A-7FB5D7246327}"/>
              </a:ext>
            </a:extLst>
          </p:cNvPr>
          <p:cNvSpPr/>
          <p:nvPr/>
        </p:nvSpPr>
        <p:spPr>
          <a:xfrm>
            <a:off x="144651" y="1667547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8EDC8DF1-A998-A32A-9FE7-7F00EE9CDC3C}"/>
              </a:ext>
            </a:extLst>
          </p:cNvPr>
          <p:cNvSpPr/>
          <p:nvPr/>
        </p:nvSpPr>
        <p:spPr>
          <a:xfrm rot="10800000">
            <a:off x="2502960" y="1792989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87BB092C-B4F3-F849-6066-B3B7C5C6788C}"/>
              </a:ext>
            </a:extLst>
          </p:cNvPr>
          <p:cNvSpPr/>
          <p:nvPr/>
        </p:nvSpPr>
        <p:spPr>
          <a:xfrm>
            <a:off x="144651" y="2110885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2800" dirty="0">
              <a:solidFill>
                <a:srgbClr val="525151"/>
              </a:solidFill>
            </a:endParaRPr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7FF70994-DAFA-CA53-4586-5BF5BE97A093}"/>
              </a:ext>
            </a:extLst>
          </p:cNvPr>
          <p:cNvSpPr/>
          <p:nvPr/>
        </p:nvSpPr>
        <p:spPr>
          <a:xfrm>
            <a:off x="144650" y="27930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Total trade flow, balance, and year-over-year trend </a:t>
            </a: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7A5CFEA1-0F55-D386-A4C5-C02A6DEC33E5}"/>
              </a:ext>
            </a:extLst>
          </p:cNvPr>
          <p:cNvSpPr/>
          <p:nvPr/>
        </p:nvSpPr>
        <p:spPr>
          <a:xfrm>
            <a:off x="753637" y="16985075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TOP 10 HS2 CHAPTERS BY TOTAL VALUE (CAD)</a:t>
            </a:r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C6513DC7-9F12-6633-C44F-A81E82D9C50C}"/>
              </a:ext>
            </a:extLst>
          </p:cNvPr>
          <p:cNvSpPr/>
          <p:nvPr/>
        </p:nvSpPr>
        <p:spPr>
          <a:xfrm>
            <a:off x="7091227" y="5193697"/>
            <a:ext cx="6453224" cy="352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TRADE PARTNERS – EXPORT VALUES</a:t>
            </a:r>
            <a:endParaRPr lang="en-US" sz="1500" dirty="0">
              <a:solidFill>
                <a:srgbClr val="59595B"/>
              </a:solidFill>
            </a:endParaRPr>
          </a:p>
        </p:txBody>
      </p:sp>
      <p:sp>
        <p:nvSpPr>
          <p:cNvPr id="69" name="Text 2">
            <a:extLst>
              <a:ext uri="{FF2B5EF4-FFF2-40B4-BE49-F238E27FC236}">
                <a16:creationId xmlns:a16="http://schemas.microsoft.com/office/drawing/2014/main" id="{EC4E94B8-735B-426F-7BBA-0D4DEC5D7301}"/>
              </a:ext>
            </a:extLst>
          </p:cNvPr>
          <p:cNvSpPr/>
          <p:nvPr/>
        </p:nvSpPr>
        <p:spPr>
          <a:xfrm>
            <a:off x="491861" y="20463496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Insights</a:t>
            </a:r>
            <a:endParaRPr lang="en-US" sz="2800" dirty="0">
              <a:solidFill>
                <a:srgbClr val="525151"/>
              </a:solidFill>
            </a:endParaRPr>
          </a:p>
        </p:txBody>
      </p:sp>
      <p:graphicFrame>
        <p:nvGraphicFramePr>
          <p:cNvPr id="92" name="Chart 1">
            <a:extLst>
              <a:ext uri="{FF2B5EF4-FFF2-40B4-BE49-F238E27FC236}">
                <a16:creationId xmlns:a16="http://schemas.microsoft.com/office/drawing/2014/main" id="{571014B9-7A61-120B-D0F1-FC0B9EF091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057466"/>
              </p:ext>
            </p:extLst>
          </p:nvPr>
        </p:nvGraphicFramePr>
        <p:xfrm>
          <a:off x="826310" y="24094662"/>
          <a:ext cx="4476584" cy="377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3" name="Text 8">
            <a:extLst>
              <a:ext uri="{FF2B5EF4-FFF2-40B4-BE49-F238E27FC236}">
                <a16:creationId xmlns:a16="http://schemas.microsoft.com/office/drawing/2014/main" id="{873662D0-69BE-9346-02CC-6C3AE1A4E8BD}"/>
              </a:ext>
            </a:extLst>
          </p:cNvPr>
          <p:cNvSpPr/>
          <p:nvPr/>
        </p:nvSpPr>
        <p:spPr>
          <a:xfrm>
            <a:off x="1337996" y="23227502"/>
            <a:ext cx="3656041" cy="57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EXPORT VALUE BY PROVINCE</a:t>
            </a:r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6593A246-5E26-B6EB-5AB9-ACA8DDAB52F7}"/>
              </a:ext>
            </a:extLst>
          </p:cNvPr>
          <p:cNvSpPr/>
          <p:nvPr/>
        </p:nvSpPr>
        <p:spPr>
          <a:xfrm>
            <a:off x="1548060" y="3734578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CANADA EXPORTS</a:t>
            </a:r>
            <a:endParaRPr lang="en-US" sz="1312" dirty="0">
              <a:solidFill>
                <a:srgbClr val="5F80AC"/>
              </a:solidFill>
            </a:endParaRPr>
          </a:p>
        </p:txBody>
      </p:sp>
      <p:pic>
        <p:nvPicPr>
          <p:cNvPr id="6" name="Graphic 5" descr="Maple Leaf with solid fill">
            <a:extLst>
              <a:ext uri="{FF2B5EF4-FFF2-40B4-BE49-F238E27FC236}">
                <a16:creationId xmlns:a16="http://schemas.microsoft.com/office/drawing/2014/main" id="{014B70ED-0F9E-2DD3-943D-9036A5BAC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3551" y="3773135"/>
            <a:ext cx="229076" cy="229076"/>
          </a:xfrm>
          <a:prstGeom prst="rect">
            <a:avLst/>
          </a:prstGeom>
        </p:spPr>
      </p:pic>
      <p:sp>
        <p:nvSpPr>
          <p:cNvPr id="34" name="Shape 12">
            <a:extLst>
              <a:ext uri="{FF2B5EF4-FFF2-40B4-BE49-F238E27FC236}">
                <a16:creationId xmlns:a16="http://schemas.microsoft.com/office/drawing/2014/main" id="{DF28041E-01ED-F7B8-8585-75C89790B3C6}"/>
              </a:ext>
            </a:extLst>
          </p:cNvPr>
          <p:cNvSpPr/>
          <p:nvPr/>
        </p:nvSpPr>
        <p:spPr>
          <a:xfrm>
            <a:off x="5342276" y="3718572"/>
            <a:ext cx="343435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6EB94AB2-B334-DBFF-A91E-96D9F27D9B70}"/>
              </a:ext>
            </a:extLst>
          </p:cNvPr>
          <p:cNvSpPr/>
          <p:nvPr/>
        </p:nvSpPr>
        <p:spPr>
          <a:xfrm>
            <a:off x="5342276" y="3718573"/>
            <a:ext cx="59997" cy="1259935"/>
          </a:xfrm>
          <a:prstGeom prst="rect">
            <a:avLst/>
          </a:prstGeom>
          <a:solidFill>
            <a:srgbClr val="224F8E"/>
          </a:solidFill>
          <a:ln w="12700">
            <a:solidFill>
              <a:srgbClr val="224F8E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852C3004-6DC7-788B-3518-C382A33E51E1}"/>
              </a:ext>
            </a:extLst>
          </p:cNvPr>
          <p:cNvSpPr/>
          <p:nvPr/>
        </p:nvSpPr>
        <p:spPr>
          <a:xfrm>
            <a:off x="5919513" y="3825548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224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200" dirty="0">
              <a:solidFill>
                <a:srgbClr val="224F8E"/>
              </a:solidFill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CB3C170D-CD80-5C99-4141-5C3CA2FA34B7}"/>
              </a:ext>
            </a:extLst>
          </p:cNvPr>
          <p:cNvSpPr/>
          <p:nvPr/>
        </p:nvSpPr>
        <p:spPr>
          <a:xfrm>
            <a:off x="5770985" y="4449335"/>
            <a:ext cx="3245636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Import Value – All countries</a:t>
            </a:r>
            <a:endParaRPr lang="en-US" sz="1312" dirty="0"/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FCBCEE86-F030-089D-FD43-C88D19A51F54}"/>
              </a:ext>
            </a:extLst>
          </p:cNvPr>
          <p:cNvSpPr/>
          <p:nvPr/>
        </p:nvSpPr>
        <p:spPr>
          <a:xfrm>
            <a:off x="5866980" y="4701322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vs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1102778-9070-33F3-1380-B10DA621BBF8}"/>
              </a:ext>
            </a:extLst>
          </p:cNvPr>
          <p:cNvCxnSpPr/>
          <p:nvPr/>
        </p:nvCxnSpPr>
        <p:spPr>
          <a:xfrm flipV="1">
            <a:off x="5781893" y="4701322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 10">
            <a:extLst>
              <a:ext uri="{FF2B5EF4-FFF2-40B4-BE49-F238E27FC236}">
                <a16:creationId xmlns:a16="http://schemas.microsoft.com/office/drawing/2014/main" id="{42E712FA-1F40-729D-101C-33D103D1D680}"/>
              </a:ext>
            </a:extLst>
          </p:cNvPr>
          <p:cNvSpPr/>
          <p:nvPr/>
        </p:nvSpPr>
        <p:spPr>
          <a:xfrm>
            <a:off x="6184021" y="3730137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CANADA IMPORTS</a:t>
            </a:r>
            <a:endParaRPr lang="en-US" sz="1312" dirty="0">
              <a:solidFill>
                <a:srgbClr val="5F80AC"/>
              </a:solidFill>
            </a:endParaRPr>
          </a:p>
        </p:txBody>
      </p:sp>
      <p:pic>
        <p:nvPicPr>
          <p:cNvPr id="97" name="Graphic 96" descr="Maple Leaf with solid fill">
            <a:extLst>
              <a:ext uri="{FF2B5EF4-FFF2-40B4-BE49-F238E27FC236}">
                <a16:creationId xmlns:a16="http://schemas.microsoft.com/office/drawing/2014/main" id="{A378297F-2C38-6272-C18B-389D26BE6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9512" y="3768694"/>
            <a:ext cx="229076" cy="229076"/>
          </a:xfrm>
          <a:prstGeom prst="rect">
            <a:avLst/>
          </a:prstGeom>
        </p:spPr>
      </p:pic>
      <p:sp>
        <p:nvSpPr>
          <p:cNvPr id="99" name="Shape 12">
            <a:extLst>
              <a:ext uri="{FF2B5EF4-FFF2-40B4-BE49-F238E27FC236}">
                <a16:creationId xmlns:a16="http://schemas.microsoft.com/office/drawing/2014/main" id="{27638F85-D49B-EAEC-E698-69178D67BF0B}"/>
              </a:ext>
            </a:extLst>
          </p:cNvPr>
          <p:cNvSpPr/>
          <p:nvPr/>
        </p:nvSpPr>
        <p:spPr>
          <a:xfrm>
            <a:off x="10317839" y="3700793"/>
            <a:ext cx="343435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00" name="Shape 8">
            <a:extLst>
              <a:ext uri="{FF2B5EF4-FFF2-40B4-BE49-F238E27FC236}">
                <a16:creationId xmlns:a16="http://schemas.microsoft.com/office/drawing/2014/main" id="{4AC3107E-D644-854C-130F-16FC4CB31B12}"/>
              </a:ext>
            </a:extLst>
          </p:cNvPr>
          <p:cNvSpPr/>
          <p:nvPr/>
        </p:nvSpPr>
        <p:spPr>
          <a:xfrm>
            <a:off x="10317839" y="3700794"/>
            <a:ext cx="59997" cy="1259935"/>
          </a:xfrm>
          <a:prstGeom prst="rect">
            <a:avLst/>
          </a:prstGeom>
          <a:solidFill>
            <a:srgbClr val="224F8E"/>
          </a:solidFill>
          <a:ln w="12700">
            <a:solidFill>
              <a:srgbClr val="224F8E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BE7219CD-CA19-8A6D-8E2C-8AAA0EDCB9B2}"/>
              </a:ext>
            </a:extLst>
          </p:cNvPr>
          <p:cNvSpPr/>
          <p:nvPr/>
        </p:nvSpPr>
        <p:spPr>
          <a:xfrm>
            <a:off x="10895076" y="3807769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224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200" dirty="0">
              <a:solidFill>
                <a:srgbClr val="224F8E"/>
              </a:solidFill>
            </a:endParaRPr>
          </a:p>
        </p:txBody>
      </p:sp>
      <p:sp>
        <p:nvSpPr>
          <p:cNvPr id="102" name="Text 10">
            <a:extLst>
              <a:ext uri="{FF2B5EF4-FFF2-40B4-BE49-F238E27FC236}">
                <a16:creationId xmlns:a16="http://schemas.microsoft.com/office/drawing/2014/main" id="{4B887535-98AA-F860-75D0-31EF88881273}"/>
              </a:ext>
            </a:extLst>
          </p:cNvPr>
          <p:cNvSpPr/>
          <p:nvPr/>
        </p:nvSpPr>
        <p:spPr>
          <a:xfrm>
            <a:off x="10746548" y="4431556"/>
            <a:ext cx="3245636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minus imports</a:t>
            </a:r>
            <a:endParaRPr lang="en-US" sz="1312" dirty="0"/>
          </a:p>
        </p:txBody>
      </p:sp>
      <p:sp>
        <p:nvSpPr>
          <p:cNvPr id="103" name="Text 11">
            <a:extLst>
              <a:ext uri="{FF2B5EF4-FFF2-40B4-BE49-F238E27FC236}">
                <a16:creationId xmlns:a16="http://schemas.microsoft.com/office/drawing/2014/main" id="{C81CFD8C-0A15-2355-DA0E-331874CF3B91}"/>
              </a:ext>
            </a:extLst>
          </p:cNvPr>
          <p:cNvSpPr/>
          <p:nvPr/>
        </p:nvSpPr>
        <p:spPr>
          <a:xfrm>
            <a:off x="10842543" y="4683543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vs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8FBD581-4566-0F1C-71C5-2846F6537B8A}"/>
              </a:ext>
            </a:extLst>
          </p:cNvPr>
          <p:cNvCxnSpPr/>
          <p:nvPr/>
        </p:nvCxnSpPr>
        <p:spPr>
          <a:xfrm flipV="1">
            <a:off x="10757456" y="4683543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 10">
            <a:extLst>
              <a:ext uri="{FF2B5EF4-FFF2-40B4-BE49-F238E27FC236}">
                <a16:creationId xmlns:a16="http://schemas.microsoft.com/office/drawing/2014/main" id="{2AA5BD35-B0D6-4DF2-D455-B0F6F1259B41}"/>
              </a:ext>
            </a:extLst>
          </p:cNvPr>
          <p:cNvSpPr/>
          <p:nvPr/>
        </p:nvSpPr>
        <p:spPr>
          <a:xfrm>
            <a:off x="11159584" y="3712358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TRADE BALANCE</a:t>
            </a:r>
            <a:endParaRPr lang="en-US" sz="1312" dirty="0">
              <a:solidFill>
                <a:srgbClr val="5F80AC"/>
              </a:solidFill>
            </a:endParaRPr>
          </a:p>
        </p:txBody>
      </p:sp>
      <p:pic>
        <p:nvPicPr>
          <p:cNvPr id="106" name="Graphic 105" descr="Maple Leaf with solid fill">
            <a:extLst>
              <a:ext uri="{FF2B5EF4-FFF2-40B4-BE49-F238E27FC236}">
                <a16:creationId xmlns:a16="http://schemas.microsoft.com/office/drawing/2014/main" id="{22F325D0-C271-B3A4-E7C1-DB2B58C03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95075" y="3750915"/>
            <a:ext cx="229076" cy="229076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8C805737-81C5-34B9-0F2C-09E45D5C3E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91" y="5701593"/>
            <a:ext cx="5863159" cy="30168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1C7A4E16-5639-B81E-5AF7-1CFD1F1FD0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9702" y="5538795"/>
            <a:ext cx="5932443" cy="3027471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CE4BCE19-100C-F471-A6B5-3C86A21C2457}"/>
              </a:ext>
            </a:extLst>
          </p:cNvPr>
          <p:cNvSpPr txBox="1"/>
          <p:nvPr/>
        </p:nvSpPr>
        <p:spPr>
          <a:xfrm>
            <a:off x="599626" y="3226454"/>
            <a:ext cx="8068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Canada – Overall Trade </a:t>
            </a:r>
            <a:endParaRPr lang="en-US" sz="1800" dirty="0">
              <a:solidFill>
                <a:srgbClr val="525151"/>
              </a:solidFill>
            </a:endParaRPr>
          </a:p>
        </p:txBody>
      </p:sp>
      <p:pic>
        <p:nvPicPr>
          <p:cNvPr id="111" name="Graphic 110" descr="Maple Leaf with solid fill">
            <a:extLst>
              <a:ext uri="{FF2B5EF4-FFF2-40B4-BE49-F238E27FC236}">
                <a16:creationId xmlns:a16="http://schemas.microsoft.com/office/drawing/2014/main" id="{1B7EAE5D-6B90-29BF-BD65-D6D84BD783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5829" y="3311284"/>
            <a:ext cx="229076" cy="229076"/>
          </a:xfrm>
          <a:prstGeom prst="rect">
            <a:avLst/>
          </a:prstGeom>
        </p:spPr>
      </p:pic>
      <p:pic>
        <p:nvPicPr>
          <p:cNvPr id="1091" name="Picture 1090">
            <a:extLst>
              <a:ext uri="{FF2B5EF4-FFF2-40B4-BE49-F238E27FC236}">
                <a16:creationId xmlns:a16="http://schemas.microsoft.com/office/drawing/2014/main" id="{759B4BEF-43D2-A110-BE98-4187335D1F5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8980"/>
          <a:stretch>
            <a:fillRect/>
          </a:stretch>
        </p:blipFill>
        <p:spPr>
          <a:xfrm>
            <a:off x="8403846" y="16561766"/>
            <a:ext cx="5082156" cy="3795839"/>
          </a:xfrm>
          <a:prstGeom prst="rect">
            <a:avLst/>
          </a:prstGeom>
        </p:spPr>
      </p:pic>
      <p:graphicFrame>
        <p:nvGraphicFramePr>
          <p:cNvPr id="1096" name="Chart 2">
            <a:extLst>
              <a:ext uri="{FF2B5EF4-FFF2-40B4-BE49-F238E27FC236}">
                <a16:creationId xmlns:a16="http://schemas.microsoft.com/office/drawing/2014/main" id="{05F7253D-85FC-1EF9-B517-17A085443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4803499"/>
              </p:ext>
            </p:extLst>
          </p:nvPr>
        </p:nvGraphicFramePr>
        <p:xfrm>
          <a:off x="882469" y="9671006"/>
          <a:ext cx="5887568" cy="2123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097" name="Text 94">
            <a:extLst>
              <a:ext uri="{FF2B5EF4-FFF2-40B4-BE49-F238E27FC236}">
                <a16:creationId xmlns:a16="http://schemas.microsoft.com/office/drawing/2014/main" id="{5C46B6B6-F659-6C2F-B96C-DDEAE70C81A0}"/>
              </a:ext>
            </a:extLst>
          </p:cNvPr>
          <p:cNvSpPr/>
          <p:nvPr/>
        </p:nvSpPr>
        <p:spPr>
          <a:xfrm>
            <a:off x="881442" y="92694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TRADE TREND VS PEERS</a:t>
            </a:r>
            <a:endParaRPr lang="en-US" sz="1000" dirty="0"/>
          </a:p>
        </p:txBody>
      </p:sp>
      <p:sp>
        <p:nvSpPr>
          <p:cNvPr id="1104" name="Shape 12">
            <a:extLst>
              <a:ext uri="{FF2B5EF4-FFF2-40B4-BE49-F238E27FC236}">
                <a16:creationId xmlns:a16="http://schemas.microsoft.com/office/drawing/2014/main" id="{5EFB4202-E283-5508-AD7F-8A72A1726354}"/>
              </a:ext>
            </a:extLst>
          </p:cNvPr>
          <p:cNvSpPr/>
          <p:nvPr/>
        </p:nvSpPr>
        <p:spPr>
          <a:xfrm>
            <a:off x="235440" y="12866647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05" name="Shape 8">
            <a:extLst>
              <a:ext uri="{FF2B5EF4-FFF2-40B4-BE49-F238E27FC236}">
                <a16:creationId xmlns:a16="http://schemas.microsoft.com/office/drawing/2014/main" id="{30935428-A1F6-55CB-C80E-36BC4AEB45B2}"/>
              </a:ext>
            </a:extLst>
          </p:cNvPr>
          <p:cNvSpPr/>
          <p:nvPr/>
        </p:nvSpPr>
        <p:spPr>
          <a:xfrm>
            <a:off x="235440" y="12866648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06" name="Text 9">
            <a:extLst>
              <a:ext uri="{FF2B5EF4-FFF2-40B4-BE49-F238E27FC236}">
                <a16:creationId xmlns:a16="http://schemas.microsoft.com/office/drawing/2014/main" id="{EE82501D-D626-85CF-E0D9-77BDB03053C8}"/>
              </a:ext>
            </a:extLst>
          </p:cNvPr>
          <p:cNvSpPr/>
          <p:nvPr/>
        </p:nvSpPr>
        <p:spPr>
          <a:xfrm>
            <a:off x="812677" y="12973623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107" name="Text 11">
            <a:extLst>
              <a:ext uri="{FF2B5EF4-FFF2-40B4-BE49-F238E27FC236}">
                <a16:creationId xmlns:a16="http://schemas.microsoft.com/office/drawing/2014/main" id="{7D575C61-368D-8D0E-AE9E-FC95BD9EFED4}"/>
              </a:ext>
            </a:extLst>
          </p:cNvPr>
          <p:cNvSpPr/>
          <p:nvPr/>
        </p:nvSpPr>
        <p:spPr>
          <a:xfrm>
            <a:off x="760144" y="13849397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109" name="Text 26">
            <a:extLst>
              <a:ext uri="{FF2B5EF4-FFF2-40B4-BE49-F238E27FC236}">
                <a16:creationId xmlns:a16="http://schemas.microsoft.com/office/drawing/2014/main" id="{C861D87B-E6E5-4837-99AC-FAD61C1E7078}"/>
              </a:ext>
            </a:extLst>
          </p:cNvPr>
          <p:cNvSpPr/>
          <p:nvPr/>
        </p:nvSpPr>
        <p:spPr>
          <a:xfrm>
            <a:off x="680954" y="13691364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– highest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</a:t>
            </a:r>
            <a:endParaRPr lang="en-US" sz="1200" dirty="0"/>
          </a:p>
        </p:txBody>
      </p:sp>
      <p:sp>
        <p:nvSpPr>
          <p:cNvPr id="1110" name="Text 10">
            <a:extLst>
              <a:ext uri="{FF2B5EF4-FFF2-40B4-BE49-F238E27FC236}">
                <a16:creationId xmlns:a16="http://schemas.microsoft.com/office/drawing/2014/main" id="{B6F6B5AE-9ABC-6EC6-2B9A-BE56B71BC829}"/>
              </a:ext>
            </a:extLst>
          </p:cNvPr>
          <p:cNvSpPr/>
          <p:nvPr/>
        </p:nvSpPr>
        <p:spPr>
          <a:xfrm>
            <a:off x="636577" y="12905722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H2S CHAPTER -  export</a:t>
            </a:r>
            <a:endParaRPr lang="en-US" sz="1312" dirty="0">
              <a:solidFill>
                <a:srgbClr val="E3932B"/>
              </a:solidFill>
            </a:endParaRPr>
          </a:p>
        </p:txBody>
      </p:sp>
      <p:sp>
        <p:nvSpPr>
          <p:cNvPr id="1111" name="Shape 12">
            <a:extLst>
              <a:ext uri="{FF2B5EF4-FFF2-40B4-BE49-F238E27FC236}">
                <a16:creationId xmlns:a16="http://schemas.microsoft.com/office/drawing/2014/main" id="{95BC3311-9001-51B6-AA70-E86585FC9DA2}"/>
              </a:ext>
            </a:extLst>
          </p:cNvPr>
          <p:cNvSpPr/>
          <p:nvPr/>
        </p:nvSpPr>
        <p:spPr>
          <a:xfrm>
            <a:off x="4088220" y="12848629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12" name="Shape 8">
            <a:extLst>
              <a:ext uri="{FF2B5EF4-FFF2-40B4-BE49-F238E27FC236}">
                <a16:creationId xmlns:a16="http://schemas.microsoft.com/office/drawing/2014/main" id="{B2576453-23EB-E297-2A33-A7D8735D8DD5}"/>
              </a:ext>
            </a:extLst>
          </p:cNvPr>
          <p:cNvSpPr/>
          <p:nvPr/>
        </p:nvSpPr>
        <p:spPr>
          <a:xfrm>
            <a:off x="4088220" y="12848630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13" name="Text 9">
            <a:extLst>
              <a:ext uri="{FF2B5EF4-FFF2-40B4-BE49-F238E27FC236}">
                <a16:creationId xmlns:a16="http://schemas.microsoft.com/office/drawing/2014/main" id="{52D38140-9A2F-0B57-7608-C4D4558A5196}"/>
              </a:ext>
            </a:extLst>
          </p:cNvPr>
          <p:cNvSpPr/>
          <p:nvPr/>
        </p:nvSpPr>
        <p:spPr>
          <a:xfrm>
            <a:off x="4665457" y="12955605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+12%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114" name="Text 11">
            <a:extLst>
              <a:ext uri="{FF2B5EF4-FFF2-40B4-BE49-F238E27FC236}">
                <a16:creationId xmlns:a16="http://schemas.microsoft.com/office/drawing/2014/main" id="{3C9FA957-974F-915A-248D-8844BDF9814C}"/>
              </a:ext>
            </a:extLst>
          </p:cNvPr>
          <p:cNvSpPr/>
          <p:nvPr/>
        </p:nvSpPr>
        <p:spPr>
          <a:xfrm>
            <a:off x="4612924" y="13831379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115" name="Text 26">
            <a:extLst>
              <a:ext uri="{FF2B5EF4-FFF2-40B4-BE49-F238E27FC236}">
                <a16:creationId xmlns:a16="http://schemas.microsoft.com/office/drawing/2014/main" id="{2FFE9EF9-993C-4246-4DC4-AE6B95713E61}"/>
              </a:ext>
            </a:extLst>
          </p:cNvPr>
          <p:cNvSpPr/>
          <p:nvPr/>
        </p:nvSpPr>
        <p:spPr>
          <a:xfrm>
            <a:off x="4533734" y="13673346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goods</a:t>
            </a:r>
            <a:endParaRPr lang="en-US" sz="1200" dirty="0"/>
          </a:p>
        </p:txBody>
      </p:sp>
      <p:sp>
        <p:nvSpPr>
          <p:cNvPr id="1116" name="Text 10">
            <a:extLst>
              <a:ext uri="{FF2B5EF4-FFF2-40B4-BE49-F238E27FC236}">
                <a16:creationId xmlns:a16="http://schemas.microsoft.com/office/drawing/2014/main" id="{3C26F5FF-A3FD-87C9-A39D-E206AEAFD165}"/>
              </a:ext>
            </a:extLst>
          </p:cNvPr>
          <p:cNvSpPr/>
          <p:nvPr/>
        </p:nvSpPr>
        <p:spPr>
          <a:xfrm>
            <a:off x="4489357" y="12887704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- Exports</a:t>
            </a:r>
            <a:endParaRPr lang="en-US" sz="1312" dirty="0">
              <a:solidFill>
                <a:srgbClr val="E3932B"/>
              </a:solidFill>
            </a:endParaRPr>
          </a:p>
        </p:txBody>
      </p:sp>
      <p:sp>
        <p:nvSpPr>
          <p:cNvPr id="1124" name="Shape 12">
            <a:extLst>
              <a:ext uri="{FF2B5EF4-FFF2-40B4-BE49-F238E27FC236}">
                <a16:creationId xmlns:a16="http://schemas.microsoft.com/office/drawing/2014/main" id="{349D0AAB-1BDC-40D4-FE30-FD548AF4E545}"/>
              </a:ext>
            </a:extLst>
          </p:cNvPr>
          <p:cNvSpPr/>
          <p:nvPr/>
        </p:nvSpPr>
        <p:spPr>
          <a:xfrm>
            <a:off x="1135024" y="21248584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25" name="Shape 8">
            <a:extLst>
              <a:ext uri="{FF2B5EF4-FFF2-40B4-BE49-F238E27FC236}">
                <a16:creationId xmlns:a16="http://schemas.microsoft.com/office/drawing/2014/main" id="{0A5CBD49-E53C-30DB-6816-0B3A8774A2D8}"/>
              </a:ext>
            </a:extLst>
          </p:cNvPr>
          <p:cNvSpPr/>
          <p:nvPr/>
        </p:nvSpPr>
        <p:spPr>
          <a:xfrm>
            <a:off x="1135024" y="21248585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26" name="Text 9">
            <a:extLst>
              <a:ext uri="{FF2B5EF4-FFF2-40B4-BE49-F238E27FC236}">
                <a16:creationId xmlns:a16="http://schemas.microsoft.com/office/drawing/2014/main" id="{3F501AE5-F2B8-C899-DEAE-ABD4F36AD596}"/>
              </a:ext>
            </a:extLst>
          </p:cNvPr>
          <p:cNvSpPr/>
          <p:nvPr/>
        </p:nvSpPr>
        <p:spPr>
          <a:xfrm>
            <a:off x="1712261" y="21355560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127" name="Text 11">
            <a:extLst>
              <a:ext uri="{FF2B5EF4-FFF2-40B4-BE49-F238E27FC236}">
                <a16:creationId xmlns:a16="http://schemas.microsoft.com/office/drawing/2014/main" id="{877DEB25-39ED-39A3-0FA2-2AF5432D9D78}"/>
              </a:ext>
            </a:extLst>
          </p:cNvPr>
          <p:cNvSpPr/>
          <p:nvPr/>
        </p:nvSpPr>
        <p:spPr>
          <a:xfrm>
            <a:off x="1659728" y="22231334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128" name="Text 26">
            <a:extLst>
              <a:ext uri="{FF2B5EF4-FFF2-40B4-BE49-F238E27FC236}">
                <a16:creationId xmlns:a16="http://schemas.microsoft.com/office/drawing/2014/main" id="{01E514E7-7AF8-BD7C-7705-A440B37D9CCB}"/>
              </a:ext>
            </a:extLst>
          </p:cNvPr>
          <p:cNvSpPr/>
          <p:nvPr/>
        </p:nvSpPr>
        <p:spPr>
          <a:xfrm>
            <a:off x="1580538" y="22073301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 Leads CA exports</a:t>
            </a:r>
          </a:p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38% of total volume</a:t>
            </a:r>
            <a:endParaRPr lang="en-US" sz="1200" dirty="0"/>
          </a:p>
        </p:txBody>
      </p:sp>
      <p:sp>
        <p:nvSpPr>
          <p:cNvPr id="1129" name="Text 10">
            <a:extLst>
              <a:ext uri="{FF2B5EF4-FFF2-40B4-BE49-F238E27FC236}">
                <a16:creationId xmlns:a16="http://schemas.microsoft.com/office/drawing/2014/main" id="{0F95EE84-1141-1968-052B-40BF01D0D5BE}"/>
              </a:ext>
            </a:extLst>
          </p:cNvPr>
          <p:cNvSpPr/>
          <p:nvPr/>
        </p:nvSpPr>
        <p:spPr>
          <a:xfrm>
            <a:off x="1536161" y="21287659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Province</a:t>
            </a:r>
            <a:endParaRPr lang="en-US" sz="1312" dirty="0">
              <a:solidFill>
                <a:srgbClr val="E3932B"/>
              </a:solidFill>
            </a:endParaRPr>
          </a:p>
        </p:txBody>
      </p:sp>
      <p:graphicFrame>
        <p:nvGraphicFramePr>
          <p:cNvPr id="1139" name="Chart 2">
            <a:extLst>
              <a:ext uri="{FF2B5EF4-FFF2-40B4-BE49-F238E27FC236}">
                <a16:creationId xmlns:a16="http://schemas.microsoft.com/office/drawing/2014/main" id="{00715599-9BA2-172B-C492-997BABFDB1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7758885"/>
              </p:ext>
            </p:extLst>
          </p:nvPr>
        </p:nvGraphicFramePr>
        <p:xfrm>
          <a:off x="7876321" y="23851646"/>
          <a:ext cx="5932443" cy="4020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140" name="Text 53">
            <a:extLst>
              <a:ext uri="{FF2B5EF4-FFF2-40B4-BE49-F238E27FC236}">
                <a16:creationId xmlns:a16="http://schemas.microsoft.com/office/drawing/2014/main" id="{F3884D17-D001-8BBE-096B-083D7E9A0357}"/>
              </a:ext>
            </a:extLst>
          </p:cNvPr>
          <p:cNvSpPr/>
          <p:nvPr/>
        </p:nvSpPr>
        <p:spPr>
          <a:xfrm>
            <a:off x="9105141" y="23522569"/>
            <a:ext cx="4607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(ORIGIN OF CA EXPORTS)</a:t>
            </a:r>
            <a:endParaRPr lang="en-US" sz="1200" dirty="0"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739A6E8E-1659-EFE6-ECD4-A39B8FACD5C0}"/>
              </a:ext>
            </a:extLst>
          </p:cNvPr>
          <p:cNvSpPr/>
          <p:nvPr/>
        </p:nvSpPr>
        <p:spPr>
          <a:xfrm>
            <a:off x="7126922" y="12832325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5C81934-3B0A-4C8B-4E23-256025B498E1}"/>
              </a:ext>
            </a:extLst>
          </p:cNvPr>
          <p:cNvSpPr/>
          <p:nvPr/>
        </p:nvSpPr>
        <p:spPr>
          <a:xfrm>
            <a:off x="7126922" y="12832326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D7D5037-B819-186D-AE58-192A5818C3F4}"/>
              </a:ext>
            </a:extLst>
          </p:cNvPr>
          <p:cNvSpPr/>
          <p:nvPr/>
        </p:nvSpPr>
        <p:spPr>
          <a:xfrm>
            <a:off x="7704159" y="12939301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6955E3E-671E-3EEB-93F9-108F01CA95F2}"/>
              </a:ext>
            </a:extLst>
          </p:cNvPr>
          <p:cNvSpPr/>
          <p:nvPr/>
        </p:nvSpPr>
        <p:spPr>
          <a:xfrm>
            <a:off x="7651626" y="13815075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66196A2F-C685-251D-02BB-E9655E15EDEA}"/>
              </a:ext>
            </a:extLst>
          </p:cNvPr>
          <p:cNvSpPr/>
          <p:nvPr/>
        </p:nvSpPr>
        <p:spPr>
          <a:xfrm>
            <a:off x="7572436" y="13657042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– highest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5E49D239-9FF7-47ED-A767-0A2CEA8162DD}"/>
              </a:ext>
            </a:extLst>
          </p:cNvPr>
          <p:cNvSpPr/>
          <p:nvPr/>
        </p:nvSpPr>
        <p:spPr>
          <a:xfrm>
            <a:off x="7528059" y="12871400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H2S CHAPTER -  Import</a:t>
            </a:r>
            <a:endParaRPr lang="en-US" sz="1312" dirty="0">
              <a:solidFill>
                <a:srgbClr val="E3932B"/>
              </a:solidFill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2AB20342-C83C-B784-C7C6-9412CA4F4944}"/>
              </a:ext>
            </a:extLst>
          </p:cNvPr>
          <p:cNvSpPr/>
          <p:nvPr/>
        </p:nvSpPr>
        <p:spPr>
          <a:xfrm>
            <a:off x="10711398" y="12811211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403CF8F-A524-E476-3297-DA3DB0503529}"/>
              </a:ext>
            </a:extLst>
          </p:cNvPr>
          <p:cNvSpPr/>
          <p:nvPr/>
        </p:nvSpPr>
        <p:spPr>
          <a:xfrm>
            <a:off x="10711398" y="12811212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47819F4E-4968-EA77-D645-94B19A50B5D6}"/>
              </a:ext>
            </a:extLst>
          </p:cNvPr>
          <p:cNvSpPr/>
          <p:nvPr/>
        </p:nvSpPr>
        <p:spPr>
          <a:xfrm>
            <a:off x="11288635" y="12918187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+12%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42EDC162-D780-D1E0-408F-6EB46CD71546}"/>
              </a:ext>
            </a:extLst>
          </p:cNvPr>
          <p:cNvSpPr/>
          <p:nvPr/>
        </p:nvSpPr>
        <p:spPr>
          <a:xfrm>
            <a:off x="11236102" y="13793961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54FF87AF-DC18-B63D-D22E-C99080ADC257}"/>
              </a:ext>
            </a:extLst>
          </p:cNvPr>
          <p:cNvSpPr/>
          <p:nvPr/>
        </p:nvSpPr>
        <p:spPr>
          <a:xfrm>
            <a:off x="11156912" y="13635928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goods</a:t>
            </a:r>
            <a:endParaRPr lang="en-US" sz="12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4301909-859A-C85F-E974-A2752B8ACF9B}"/>
              </a:ext>
            </a:extLst>
          </p:cNvPr>
          <p:cNvSpPr/>
          <p:nvPr/>
        </p:nvSpPr>
        <p:spPr>
          <a:xfrm>
            <a:off x="11112535" y="12850286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- Imports</a:t>
            </a:r>
            <a:endParaRPr lang="en-US" sz="1312" dirty="0">
              <a:solidFill>
                <a:srgbClr val="E3932B"/>
              </a:solidFill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B72B71C4-D4F1-1992-5015-A892ED2FCB1B}"/>
              </a:ext>
            </a:extLst>
          </p:cNvPr>
          <p:cNvSpPr/>
          <p:nvPr/>
        </p:nvSpPr>
        <p:spPr>
          <a:xfrm>
            <a:off x="5465843" y="21232709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999214EF-D16E-09C5-7889-3A53DD2AACE6}"/>
              </a:ext>
            </a:extLst>
          </p:cNvPr>
          <p:cNvSpPr/>
          <p:nvPr/>
        </p:nvSpPr>
        <p:spPr>
          <a:xfrm>
            <a:off x="5465843" y="21232710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0EC6381-5912-B527-EF4F-4DC872458981}"/>
              </a:ext>
            </a:extLst>
          </p:cNvPr>
          <p:cNvSpPr/>
          <p:nvPr/>
        </p:nvSpPr>
        <p:spPr>
          <a:xfrm>
            <a:off x="6043080" y="21339685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606B316C-AF1B-9446-E0C3-1D513468F1C6}"/>
              </a:ext>
            </a:extLst>
          </p:cNvPr>
          <p:cNvSpPr/>
          <p:nvPr/>
        </p:nvSpPr>
        <p:spPr>
          <a:xfrm>
            <a:off x="5990547" y="22215459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1ACF194A-0B65-A777-A2D4-AD4AA7C918E1}"/>
              </a:ext>
            </a:extLst>
          </p:cNvPr>
          <p:cNvSpPr/>
          <p:nvPr/>
        </p:nvSpPr>
        <p:spPr>
          <a:xfrm>
            <a:off x="5911357" y="22057426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 Leads CA Imports</a:t>
            </a:r>
          </a:p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38% of total volume</a:t>
            </a:r>
            <a:endParaRPr lang="en-US" sz="12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E1BE634-80F1-E96C-DF84-F4B075A44F9A}"/>
              </a:ext>
            </a:extLst>
          </p:cNvPr>
          <p:cNvSpPr/>
          <p:nvPr/>
        </p:nvSpPr>
        <p:spPr>
          <a:xfrm>
            <a:off x="5866980" y="21271784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Province</a:t>
            </a:r>
            <a:endParaRPr lang="en-US" sz="1312" dirty="0">
              <a:solidFill>
                <a:srgbClr val="E3932B"/>
              </a:solidFill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8407F207-E14E-DEA5-5584-24AA7E4D6033}"/>
              </a:ext>
            </a:extLst>
          </p:cNvPr>
          <p:cNvSpPr/>
          <p:nvPr/>
        </p:nvSpPr>
        <p:spPr>
          <a:xfrm>
            <a:off x="8167142" y="15681816"/>
            <a:ext cx="5318860" cy="29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YOY growth by commodity TOTAL VALUE (CAD)</a:t>
            </a: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39C804A1-1ED5-60D7-E6C9-46D617A0ACA4}"/>
              </a:ext>
            </a:extLst>
          </p:cNvPr>
          <p:cNvSpPr/>
          <p:nvPr/>
        </p:nvSpPr>
        <p:spPr>
          <a:xfrm>
            <a:off x="5140867" y="23316915"/>
            <a:ext cx="3042242" cy="399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YOY growth by province</a:t>
            </a:r>
          </a:p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TOTAL VALUE (CAD)</a:t>
            </a:r>
          </a:p>
        </p:txBody>
      </p:sp>
    </p:spTree>
    <p:extLst>
      <p:ext uri="{BB962C8B-B14F-4D97-AF65-F5344CB8AC3E}">
        <p14:creationId xmlns:p14="http://schemas.microsoft.com/office/powerpoint/2010/main" val="100100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3523-033B-44FB-2C64-B6502F21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2">
            <a:extLst>
              <a:ext uri="{FF2B5EF4-FFF2-40B4-BE49-F238E27FC236}">
                <a16:creationId xmlns:a16="http://schemas.microsoft.com/office/drawing/2014/main" id="{D81F09A0-1FC0-AC78-15B3-4EF89BBFD87B}"/>
              </a:ext>
            </a:extLst>
          </p:cNvPr>
          <p:cNvSpPr/>
          <p:nvPr/>
        </p:nvSpPr>
        <p:spPr>
          <a:xfrm>
            <a:off x="706315" y="3723013"/>
            <a:ext cx="343435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41A17B6-B2AB-C94E-8641-40728FB4CE41}"/>
              </a:ext>
            </a:extLst>
          </p:cNvPr>
          <p:cNvSpPr/>
          <p:nvPr/>
        </p:nvSpPr>
        <p:spPr>
          <a:xfrm>
            <a:off x="491861" y="13824852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Performance</a:t>
            </a:r>
            <a:endParaRPr lang="en-US" sz="2800" dirty="0">
              <a:solidFill>
                <a:srgbClr val="52515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2C0AB3F2-DF08-9B0F-D5EB-05DFAEC5CE54}"/>
              </a:ext>
            </a:extLst>
          </p:cNvPr>
          <p:cNvSpPr/>
          <p:nvPr/>
        </p:nvSpPr>
        <p:spPr>
          <a:xfrm>
            <a:off x="706315" y="3723014"/>
            <a:ext cx="59997" cy="1259935"/>
          </a:xfrm>
          <a:prstGeom prst="rect">
            <a:avLst/>
          </a:prstGeom>
          <a:solidFill>
            <a:srgbClr val="224F8E"/>
          </a:solidFill>
          <a:ln w="12700">
            <a:solidFill>
              <a:srgbClr val="224F8E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3720E63-C598-B0B3-D8DB-C7ACABA9C7C4}"/>
              </a:ext>
            </a:extLst>
          </p:cNvPr>
          <p:cNvSpPr/>
          <p:nvPr/>
        </p:nvSpPr>
        <p:spPr>
          <a:xfrm>
            <a:off x="1283552" y="3829989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224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200" dirty="0">
              <a:solidFill>
                <a:srgbClr val="224F8E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7BFB655-7928-D8EE-9E15-E11B40B0B2BD}"/>
              </a:ext>
            </a:extLst>
          </p:cNvPr>
          <p:cNvSpPr/>
          <p:nvPr/>
        </p:nvSpPr>
        <p:spPr>
          <a:xfrm>
            <a:off x="1135024" y="4453776"/>
            <a:ext cx="3245636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Canada Export Value – All countries</a:t>
            </a:r>
            <a:endParaRPr lang="en-US" sz="1312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78E7CB9F-95BB-529A-6C75-0169FBFC863B}"/>
              </a:ext>
            </a:extLst>
          </p:cNvPr>
          <p:cNvSpPr/>
          <p:nvPr/>
        </p:nvSpPr>
        <p:spPr>
          <a:xfrm>
            <a:off x="1231019" y="4705763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vs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35E10C-B9E9-DB00-C0B8-6F02658E2104}"/>
              </a:ext>
            </a:extLst>
          </p:cNvPr>
          <p:cNvCxnSpPr/>
          <p:nvPr/>
        </p:nvCxnSpPr>
        <p:spPr>
          <a:xfrm flipV="1">
            <a:off x="1145932" y="4705763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27">
            <a:extLst>
              <a:ext uri="{FF2B5EF4-FFF2-40B4-BE49-F238E27FC236}">
                <a16:creationId xmlns:a16="http://schemas.microsoft.com/office/drawing/2014/main" id="{301AD82C-FFAF-B8C3-D2D4-2B3057AAA561}"/>
              </a:ext>
            </a:extLst>
          </p:cNvPr>
          <p:cNvSpPr/>
          <p:nvPr/>
        </p:nvSpPr>
        <p:spPr>
          <a:xfrm>
            <a:off x="235440" y="5358014"/>
            <a:ext cx="6453224" cy="352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TRADE TREND — ALL PARTNERS</a:t>
            </a:r>
            <a:endParaRPr lang="en-US" sz="1500" dirty="0">
              <a:solidFill>
                <a:srgbClr val="59595B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BA353DB-2422-5C7B-4E26-F0BD2D07D331}"/>
              </a:ext>
            </a:extLst>
          </p:cNvPr>
          <p:cNvCxnSpPr/>
          <p:nvPr/>
        </p:nvCxnSpPr>
        <p:spPr>
          <a:xfrm>
            <a:off x="7162" y="2141342"/>
            <a:ext cx="14399166" cy="0"/>
          </a:xfrm>
          <a:prstGeom prst="line">
            <a:avLst/>
          </a:prstGeom>
          <a:ln w="41275" cmpd="sng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Chart 0">
            <a:extLst>
              <a:ext uri="{FF2B5EF4-FFF2-40B4-BE49-F238E27FC236}">
                <a16:creationId xmlns:a16="http://schemas.microsoft.com/office/drawing/2014/main" id="{F8C7DAA8-4171-2066-38A9-15C5F1DBCE3D}"/>
              </a:ext>
            </a:extLst>
          </p:cNvPr>
          <p:cNvGraphicFramePr/>
          <p:nvPr/>
        </p:nvGraphicFramePr>
        <p:xfrm>
          <a:off x="749786" y="17387411"/>
          <a:ext cx="6631831" cy="2834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" name="Text 4">
            <a:extLst>
              <a:ext uri="{FF2B5EF4-FFF2-40B4-BE49-F238E27FC236}">
                <a16:creationId xmlns:a16="http://schemas.microsoft.com/office/drawing/2014/main" id="{BD3E6EBA-2F19-78FA-B65D-4C5498E10EAE}"/>
              </a:ext>
            </a:extLst>
          </p:cNvPr>
          <p:cNvSpPr/>
          <p:nvPr/>
        </p:nvSpPr>
        <p:spPr>
          <a:xfrm>
            <a:off x="664850" y="16636663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Which products drive the most trade value · grouped by HS chapter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8DAC6B1-FCE8-57D1-D62A-4B9C835CBDB6}"/>
              </a:ext>
            </a:extLst>
          </p:cNvPr>
          <p:cNvSpPr/>
          <p:nvPr/>
        </p:nvSpPr>
        <p:spPr>
          <a:xfrm>
            <a:off x="0" y="-16837"/>
            <a:ext cx="14399166" cy="129322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75CD70BE-108E-0424-4A48-F1DCD2148603}"/>
              </a:ext>
            </a:extLst>
          </p:cNvPr>
          <p:cNvSpPr/>
          <p:nvPr/>
        </p:nvSpPr>
        <p:spPr>
          <a:xfrm>
            <a:off x="424598" y="160045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Arial Narrow" panose="020B0604020202020204" pitchFamily="34" charset="0"/>
              </a:rPr>
              <a:t>Canada × Brazil Trade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2" descr="FCBB 🇨🇦🇧🇷 (@fcbbdigital) • Instagram photos and videos">
            <a:extLst>
              <a:ext uri="{FF2B5EF4-FFF2-40B4-BE49-F238E27FC236}">
                <a16:creationId xmlns:a16="http://schemas.microsoft.com/office/drawing/2014/main" id="{49373AEC-E580-D50B-48F4-91C6DF5DC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477" y="267830"/>
            <a:ext cx="1472123" cy="1536406"/>
          </a:xfrm>
          <a:prstGeom prst="rect">
            <a:avLst/>
          </a:prstGeom>
          <a:noFill/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403A6D68-9E5B-66A1-3A21-F41D773A3DAE}"/>
              </a:ext>
            </a:extLst>
          </p:cNvPr>
          <p:cNvSpPr/>
          <p:nvPr/>
        </p:nvSpPr>
        <p:spPr>
          <a:xfrm>
            <a:off x="424598" y="927862"/>
            <a:ext cx="6173931" cy="159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 flow, balance, and year-over-year trend · 2024–2025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E86C1CEE-D2D4-1045-8C6B-A075F99EB03F}"/>
              </a:ext>
            </a:extLst>
          </p:cNvPr>
          <p:cNvSpPr/>
          <p:nvPr/>
        </p:nvSpPr>
        <p:spPr>
          <a:xfrm>
            <a:off x="10698135" y="1683177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 2024 – Apr 2025</a:t>
            </a: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AC145464-4C6F-BECE-5129-9CE4E6B83CC5}"/>
              </a:ext>
            </a:extLst>
          </p:cNvPr>
          <p:cNvSpPr/>
          <p:nvPr/>
        </p:nvSpPr>
        <p:spPr>
          <a:xfrm rot="10800000">
            <a:off x="13056444" y="1808619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D99E69FE-0E5B-B157-0D41-14C1805E4321}"/>
              </a:ext>
            </a:extLst>
          </p:cNvPr>
          <p:cNvSpPr/>
          <p:nvPr/>
        </p:nvSpPr>
        <p:spPr>
          <a:xfrm>
            <a:off x="8059764" y="1679683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Trade Type</a:t>
            </a:r>
          </a:p>
        </p:txBody>
      </p:sp>
      <p:sp>
        <p:nvSpPr>
          <p:cNvPr id="40" name="Triangle 39">
            <a:extLst>
              <a:ext uri="{FF2B5EF4-FFF2-40B4-BE49-F238E27FC236}">
                <a16:creationId xmlns:a16="http://schemas.microsoft.com/office/drawing/2014/main" id="{FE6609F5-28BC-8BB6-3DAD-ECDF7AB80975}"/>
              </a:ext>
            </a:extLst>
          </p:cNvPr>
          <p:cNvSpPr/>
          <p:nvPr/>
        </p:nvSpPr>
        <p:spPr>
          <a:xfrm rot="10800000">
            <a:off x="10418073" y="1805125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3951BD91-6F3F-F452-CC7D-B829A013EFD8}"/>
              </a:ext>
            </a:extLst>
          </p:cNvPr>
          <p:cNvSpPr/>
          <p:nvPr/>
        </p:nvSpPr>
        <p:spPr>
          <a:xfrm>
            <a:off x="5421393" y="1674659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Province</a:t>
            </a:r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81100B70-DC0A-2817-1068-B3E94BDF6751}"/>
              </a:ext>
            </a:extLst>
          </p:cNvPr>
          <p:cNvSpPr/>
          <p:nvPr/>
        </p:nvSpPr>
        <p:spPr>
          <a:xfrm rot="10800000">
            <a:off x="7779702" y="1800101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50CEF902-50E4-D648-860A-81314E1162D4}"/>
              </a:ext>
            </a:extLst>
          </p:cNvPr>
          <p:cNvSpPr/>
          <p:nvPr/>
        </p:nvSpPr>
        <p:spPr>
          <a:xfrm>
            <a:off x="2783022" y="1669523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Commodity</a:t>
            </a:r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876C8087-6A85-2E44-534E-1B7521998BCA}"/>
              </a:ext>
            </a:extLst>
          </p:cNvPr>
          <p:cNvSpPr/>
          <p:nvPr/>
        </p:nvSpPr>
        <p:spPr>
          <a:xfrm rot="10800000">
            <a:off x="5141331" y="1794965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405E6DAB-2DBA-72E7-44CD-E198869BB0AF}"/>
              </a:ext>
            </a:extLst>
          </p:cNvPr>
          <p:cNvSpPr/>
          <p:nvPr/>
        </p:nvSpPr>
        <p:spPr>
          <a:xfrm>
            <a:off x="144651" y="1667547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86343B80-F52A-D80B-0308-164629577C62}"/>
              </a:ext>
            </a:extLst>
          </p:cNvPr>
          <p:cNvSpPr/>
          <p:nvPr/>
        </p:nvSpPr>
        <p:spPr>
          <a:xfrm rot="10800000">
            <a:off x="2502960" y="1792989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A276783B-85C9-3041-4DD5-854DCA93E6E0}"/>
              </a:ext>
            </a:extLst>
          </p:cNvPr>
          <p:cNvSpPr/>
          <p:nvPr/>
        </p:nvSpPr>
        <p:spPr>
          <a:xfrm>
            <a:off x="144651" y="2110885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2800" dirty="0">
              <a:solidFill>
                <a:srgbClr val="525151"/>
              </a:solidFill>
            </a:endParaRPr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C3927815-8B5C-D721-3E32-AB516A6FF6E8}"/>
              </a:ext>
            </a:extLst>
          </p:cNvPr>
          <p:cNvSpPr/>
          <p:nvPr/>
        </p:nvSpPr>
        <p:spPr>
          <a:xfrm>
            <a:off x="144650" y="27930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Total trade flow, balance, and year-over-year trend </a:t>
            </a: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065EB16B-F1B5-B66C-8EBD-611C8ED661B8}"/>
              </a:ext>
            </a:extLst>
          </p:cNvPr>
          <p:cNvSpPr/>
          <p:nvPr/>
        </p:nvSpPr>
        <p:spPr>
          <a:xfrm>
            <a:off x="753637" y="16985075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TOP 10 HS2 CHAPTERS BY TOTAL VALUE (CAD)</a:t>
            </a:r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D2983A8D-A28E-8186-AE3D-7B408D65590B}"/>
              </a:ext>
            </a:extLst>
          </p:cNvPr>
          <p:cNvSpPr/>
          <p:nvPr/>
        </p:nvSpPr>
        <p:spPr>
          <a:xfrm>
            <a:off x="7244224" y="5349327"/>
            <a:ext cx="6453224" cy="352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TRADE PARTNERS – EXPORT VALUES</a:t>
            </a:r>
            <a:endParaRPr lang="en-US" sz="1500" dirty="0">
              <a:solidFill>
                <a:srgbClr val="59595B"/>
              </a:solidFill>
            </a:endParaRPr>
          </a:p>
        </p:txBody>
      </p:sp>
      <p:sp>
        <p:nvSpPr>
          <p:cNvPr id="69" name="Text 2">
            <a:extLst>
              <a:ext uri="{FF2B5EF4-FFF2-40B4-BE49-F238E27FC236}">
                <a16:creationId xmlns:a16="http://schemas.microsoft.com/office/drawing/2014/main" id="{387355BB-9D19-A1FE-0116-E922A516A8B5}"/>
              </a:ext>
            </a:extLst>
          </p:cNvPr>
          <p:cNvSpPr/>
          <p:nvPr/>
        </p:nvSpPr>
        <p:spPr>
          <a:xfrm>
            <a:off x="491861" y="20463496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Insights</a:t>
            </a:r>
            <a:endParaRPr lang="en-US" sz="2800" dirty="0">
              <a:solidFill>
                <a:srgbClr val="525151"/>
              </a:solidFill>
            </a:endParaRPr>
          </a:p>
        </p:txBody>
      </p:sp>
      <p:graphicFrame>
        <p:nvGraphicFramePr>
          <p:cNvPr id="92" name="Chart 1">
            <a:extLst>
              <a:ext uri="{FF2B5EF4-FFF2-40B4-BE49-F238E27FC236}">
                <a16:creationId xmlns:a16="http://schemas.microsoft.com/office/drawing/2014/main" id="{1A7EF0F3-12B8-1A87-4182-29C14EFE39D4}"/>
              </a:ext>
            </a:extLst>
          </p:cNvPr>
          <p:cNvGraphicFramePr/>
          <p:nvPr/>
        </p:nvGraphicFramePr>
        <p:xfrm>
          <a:off x="826309" y="23778601"/>
          <a:ext cx="5501339" cy="4093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3" name="Text 8">
            <a:extLst>
              <a:ext uri="{FF2B5EF4-FFF2-40B4-BE49-F238E27FC236}">
                <a16:creationId xmlns:a16="http://schemas.microsoft.com/office/drawing/2014/main" id="{3009B97B-2B56-2328-2250-EBE92DCB6FC1}"/>
              </a:ext>
            </a:extLst>
          </p:cNvPr>
          <p:cNvSpPr/>
          <p:nvPr/>
        </p:nvSpPr>
        <p:spPr>
          <a:xfrm>
            <a:off x="1337996" y="23227502"/>
            <a:ext cx="3656041" cy="57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EXPORT VALUE BY PROVINCE</a:t>
            </a:r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44BDC087-3F9E-DA75-D0C1-6E03947949A9}"/>
              </a:ext>
            </a:extLst>
          </p:cNvPr>
          <p:cNvSpPr/>
          <p:nvPr/>
        </p:nvSpPr>
        <p:spPr>
          <a:xfrm>
            <a:off x="1548060" y="3734578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CANADA EXPORTS</a:t>
            </a:r>
            <a:endParaRPr lang="en-US" sz="1312" dirty="0">
              <a:solidFill>
                <a:srgbClr val="5F80AC"/>
              </a:solidFill>
            </a:endParaRPr>
          </a:p>
        </p:txBody>
      </p:sp>
      <p:pic>
        <p:nvPicPr>
          <p:cNvPr id="6" name="Graphic 5" descr="Maple Leaf with solid fill">
            <a:extLst>
              <a:ext uri="{FF2B5EF4-FFF2-40B4-BE49-F238E27FC236}">
                <a16:creationId xmlns:a16="http://schemas.microsoft.com/office/drawing/2014/main" id="{1B0C993E-909E-98DF-968D-18CB18A77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3551" y="3773135"/>
            <a:ext cx="229076" cy="229076"/>
          </a:xfrm>
          <a:prstGeom prst="rect">
            <a:avLst/>
          </a:prstGeom>
        </p:spPr>
      </p:pic>
      <p:sp>
        <p:nvSpPr>
          <p:cNvPr id="34" name="Shape 12">
            <a:extLst>
              <a:ext uri="{FF2B5EF4-FFF2-40B4-BE49-F238E27FC236}">
                <a16:creationId xmlns:a16="http://schemas.microsoft.com/office/drawing/2014/main" id="{25BE66B2-C488-B96B-A459-CFB8D8E35CAB}"/>
              </a:ext>
            </a:extLst>
          </p:cNvPr>
          <p:cNvSpPr/>
          <p:nvPr/>
        </p:nvSpPr>
        <p:spPr>
          <a:xfrm>
            <a:off x="5342276" y="3718572"/>
            <a:ext cx="343435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13EC4689-7385-8262-E5E2-FF0DC49E26C5}"/>
              </a:ext>
            </a:extLst>
          </p:cNvPr>
          <p:cNvSpPr/>
          <p:nvPr/>
        </p:nvSpPr>
        <p:spPr>
          <a:xfrm>
            <a:off x="5342276" y="3718573"/>
            <a:ext cx="59997" cy="1259935"/>
          </a:xfrm>
          <a:prstGeom prst="rect">
            <a:avLst/>
          </a:prstGeom>
          <a:solidFill>
            <a:srgbClr val="224F8E"/>
          </a:solidFill>
          <a:ln w="12700">
            <a:solidFill>
              <a:srgbClr val="224F8E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1461AB5F-9B19-7C6A-83CC-F4EC497D495D}"/>
              </a:ext>
            </a:extLst>
          </p:cNvPr>
          <p:cNvSpPr/>
          <p:nvPr/>
        </p:nvSpPr>
        <p:spPr>
          <a:xfrm>
            <a:off x="5919513" y="3825548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224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200" dirty="0">
              <a:solidFill>
                <a:srgbClr val="224F8E"/>
              </a:solidFill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7A8E2BB7-2FB5-2734-2EF3-E22B99527AE5}"/>
              </a:ext>
            </a:extLst>
          </p:cNvPr>
          <p:cNvSpPr/>
          <p:nvPr/>
        </p:nvSpPr>
        <p:spPr>
          <a:xfrm>
            <a:off x="5770985" y="4449335"/>
            <a:ext cx="3245636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Import Value – All countries</a:t>
            </a:r>
            <a:endParaRPr lang="en-US" sz="1312" dirty="0"/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F049EAEA-268E-E3CD-43DB-77DE12D84CB0}"/>
              </a:ext>
            </a:extLst>
          </p:cNvPr>
          <p:cNvSpPr/>
          <p:nvPr/>
        </p:nvSpPr>
        <p:spPr>
          <a:xfrm>
            <a:off x="5866980" y="4701322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vs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FC23416-3566-FA1C-FE3F-A2ED40BB4E62}"/>
              </a:ext>
            </a:extLst>
          </p:cNvPr>
          <p:cNvCxnSpPr/>
          <p:nvPr/>
        </p:nvCxnSpPr>
        <p:spPr>
          <a:xfrm flipV="1">
            <a:off x="5781893" y="4701322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 10">
            <a:extLst>
              <a:ext uri="{FF2B5EF4-FFF2-40B4-BE49-F238E27FC236}">
                <a16:creationId xmlns:a16="http://schemas.microsoft.com/office/drawing/2014/main" id="{3C69F03A-9809-2ABF-6B89-B740A27406E6}"/>
              </a:ext>
            </a:extLst>
          </p:cNvPr>
          <p:cNvSpPr/>
          <p:nvPr/>
        </p:nvSpPr>
        <p:spPr>
          <a:xfrm>
            <a:off x="6184021" y="3730137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CANADA IMPORTS</a:t>
            </a:r>
            <a:endParaRPr lang="en-US" sz="1312" dirty="0">
              <a:solidFill>
                <a:srgbClr val="5F80AC"/>
              </a:solidFill>
            </a:endParaRPr>
          </a:p>
        </p:txBody>
      </p:sp>
      <p:pic>
        <p:nvPicPr>
          <p:cNvPr id="97" name="Graphic 96" descr="Maple Leaf with solid fill">
            <a:extLst>
              <a:ext uri="{FF2B5EF4-FFF2-40B4-BE49-F238E27FC236}">
                <a16:creationId xmlns:a16="http://schemas.microsoft.com/office/drawing/2014/main" id="{8A1A5FD3-86FB-AA69-9A57-B84BDEC29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9512" y="3768694"/>
            <a:ext cx="229076" cy="229076"/>
          </a:xfrm>
          <a:prstGeom prst="rect">
            <a:avLst/>
          </a:prstGeom>
        </p:spPr>
      </p:pic>
      <p:sp>
        <p:nvSpPr>
          <p:cNvPr id="99" name="Shape 12">
            <a:extLst>
              <a:ext uri="{FF2B5EF4-FFF2-40B4-BE49-F238E27FC236}">
                <a16:creationId xmlns:a16="http://schemas.microsoft.com/office/drawing/2014/main" id="{3C96027D-33F7-8EC5-2578-A1D0954BB14A}"/>
              </a:ext>
            </a:extLst>
          </p:cNvPr>
          <p:cNvSpPr/>
          <p:nvPr/>
        </p:nvSpPr>
        <p:spPr>
          <a:xfrm>
            <a:off x="10317839" y="3700793"/>
            <a:ext cx="343435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00" name="Shape 8">
            <a:extLst>
              <a:ext uri="{FF2B5EF4-FFF2-40B4-BE49-F238E27FC236}">
                <a16:creationId xmlns:a16="http://schemas.microsoft.com/office/drawing/2014/main" id="{A2248071-67F2-3AF0-2BEC-9CAA5EF9FB63}"/>
              </a:ext>
            </a:extLst>
          </p:cNvPr>
          <p:cNvSpPr/>
          <p:nvPr/>
        </p:nvSpPr>
        <p:spPr>
          <a:xfrm>
            <a:off x="10317839" y="3700794"/>
            <a:ext cx="59997" cy="1259935"/>
          </a:xfrm>
          <a:prstGeom prst="rect">
            <a:avLst/>
          </a:prstGeom>
          <a:solidFill>
            <a:srgbClr val="224F8E"/>
          </a:solidFill>
          <a:ln w="12700">
            <a:solidFill>
              <a:srgbClr val="224F8E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0236C0AD-3ABD-8412-2B29-F1689EC5302C}"/>
              </a:ext>
            </a:extLst>
          </p:cNvPr>
          <p:cNvSpPr/>
          <p:nvPr/>
        </p:nvSpPr>
        <p:spPr>
          <a:xfrm>
            <a:off x="10895076" y="3807769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224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200" dirty="0">
              <a:solidFill>
                <a:srgbClr val="224F8E"/>
              </a:solidFill>
            </a:endParaRPr>
          </a:p>
        </p:txBody>
      </p:sp>
      <p:sp>
        <p:nvSpPr>
          <p:cNvPr id="102" name="Text 10">
            <a:extLst>
              <a:ext uri="{FF2B5EF4-FFF2-40B4-BE49-F238E27FC236}">
                <a16:creationId xmlns:a16="http://schemas.microsoft.com/office/drawing/2014/main" id="{22A20C8C-B741-ECEF-A385-B968BC8ADB4C}"/>
              </a:ext>
            </a:extLst>
          </p:cNvPr>
          <p:cNvSpPr/>
          <p:nvPr/>
        </p:nvSpPr>
        <p:spPr>
          <a:xfrm>
            <a:off x="10746548" y="4431556"/>
            <a:ext cx="3245636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minus imports</a:t>
            </a:r>
            <a:endParaRPr lang="en-US" sz="1312" dirty="0"/>
          </a:p>
        </p:txBody>
      </p:sp>
      <p:sp>
        <p:nvSpPr>
          <p:cNvPr id="103" name="Text 11">
            <a:extLst>
              <a:ext uri="{FF2B5EF4-FFF2-40B4-BE49-F238E27FC236}">
                <a16:creationId xmlns:a16="http://schemas.microsoft.com/office/drawing/2014/main" id="{D769121E-EC29-0712-F6BE-BB1291485FC8}"/>
              </a:ext>
            </a:extLst>
          </p:cNvPr>
          <p:cNvSpPr/>
          <p:nvPr/>
        </p:nvSpPr>
        <p:spPr>
          <a:xfrm>
            <a:off x="10842543" y="4683543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vs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9EE646A-9FEF-F061-4A62-63183779A41B}"/>
              </a:ext>
            </a:extLst>
          </p:cNvPr>
          <p:cNvCxnSpPr/>
          <p:nvPr/>
        </p:nvCxnSpPr>
        <p:spPr>
          <a:xfrm flipV="1">
            <a:off x="10757456" y="4683543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 10">
            <a:extLst>
              <a:ext uri="{FF2B5EF4-FFF2-40B4-BE49-F238E27FC236}">
                <a16:creationId xmlns:a16="http://schemas.microsoft.com/office/drawing/2014/main" id="{FBCA3742-7C2E-9865-0579-D1004CF38411}"/>
              </a:ext>
            </a:extLst>
          </p:cNvPr>
          <p:cNvSpPr/>
          <p:nvPr/>
        </p:nvSpPr>
        <p:spPr>
          <a:xfrm>
            <a:off x="11159584" y="3712358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TRADE BALANCE</a:t>
            </a:r>
            <a:endParaRPr lang="en-US" sz="1312" dirty="0">
              <a:solidFill>
                <a:srgbClr val="5F80AC"/>
              </a:solidFill>
            </a:endParaRPr>
          </a:p>
        </p:txBody>
      </p:sp>
      <p:pic>
        <p:nvPicPr>
          <p:cNvPr id="106" name="Graphic 105" descr="Maple Leaf with solid fill">
            <a:extLst>
              <a:ext uri="{FF2B5EF4-FFF2-40B4-BE49-F238E27FC236}">
                <a16:creationId xmlns:a16="http://schemas.microsoft.com/office/drawing/2014/main" id="{DDDA17B7-2942-653F-52B8-961B7EE64D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95075" y="3750915"/>
            <a:ext cx="229076" cy="229076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9890C72-4AF9-DC9A-05E3-4A30D87AFF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91" y="5701593"/>
            <a:ext cx="5863159" cy="30168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C93A34C6-8CBE-9432-D62F-5F470E8911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9702" y="5695488"/>
            <a:ext cx="5932443" cy="3027471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D9893369-D631-9DF8-1267-7FCBDDC18C03}"/>
              </a:ext>
            </a:extLst>
          </p:cNvPr>
          <p:cNvSpPr txBox="1"/>
          <p:nvPr/>
        </p:nvSpPr>
        <p:spPr>
          <a:xfrm>
            <a:off x="599626" y="3226454"/>
            <a:ext cx="8068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Canada – Overall Trade </a:t>
            </a:r>
            <a:endParaRPr lang="en-US" sz="1800" dirty="0">
              <a:solidFill>
                <a:srgbClr val="525151"/>
              </a:solidFill>
            </a:endParaRPr>
          </a:p>
        </p:txBody>
      </p:sp>
      <p:pic>
        <p:nvPicPr>
          <p:cNvPr id="111" name="Graphic 110" descr="Maple Leaf with solid fill">
            <a:extLst>
              <a:ext uri="{FF2B5EF4-FFF2-40B4-BE49-F238E27FC236}">
                <a16:creationId xmlns:a16="http://schemas.microsoft.com/office/drawing/2014/main" id="{066988BE-8ECE-A9AD-1DDB-A3EA67BA9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5829" y="3311284"/>
            <a:ext cx="229076" cy="229076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EB94FAC9-FE60-E11D-9463-B8A538188AEE}"/>
              </a:ext>
            </a:extLst>
          </p:cNvPr>
          <p:cNvSpPr txBox="1"/>
          <p:nvPr/>
        </p:nvSpPr>
        <p:spPr>
          <a:xfrm>
            <a:off x="706315" y="9107852"/>
            <a:ext cx="8068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– Bilateral Trade </a:t>
            </a:r>
            <a:endParaRPr lang="en-US" sz="1800" dirty="0">
              <a:solidFill>
                <a:srgbClr val="525151"/>
              </a:solidFill>
            </a:endParaRPr>
          </a:p>
        </p:txBody>
      </p:sp>
      <p:pic>
        <p:nvPicPr>
          <p:cNvPr id="1026" name="Picture 2" descr="Brazil ">
            <a:extLst>
              <a:ext uri="{FF2B5EF4-FFF2-40B4-BE49-F238E27FC236}">
                <a16:creationId xmlns:a16="http://schemas.microsoft.com/office/drawing/2014/main" id="{1F852B2D-2874-34EA-EDF5-E66CE87B9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903" y="9156541"/>
            <a:ext cx="280532" cy="28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Shape 12">
            <a:extLst>
              <a:ext uri="{FF2B5EF4-FFF2-40B4-BE49-F238E27FC236}">
                <a16:creationId xmlns:a16="http://schemas.microsoft.com/office/drawing/2014/main" id="{1C485920-5151-887A-5462-DA436A8124E2}"/>
              </a:ext>
            </a:extLst>
          </p:cNvPr>
          <p:cNvSpPr/>
          <p:nvPr/>
        </p:nvSpPr>
        <p:spPr>
          <a:xfrm>
            <a:off x="766312" y="9582240"/>
            <a:ext cx="2648593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6" name="Shape 8">
            <a:extLst>
              <a:ext uri="{FF2B5EF4-FFF2-40B4-BE49-F238E27FC236}">
                <a16:creationId xmlns:a16="http://schemas.microsoft.com/office/drawing/2014/main" id="{B6ECA0D3-7262-F091-A2AF-25FEEA05B44E}"/>
              </a:ext>
            </a:extLst>
          </p:cNvPr>
          <p:cNvSpPr/>
          <p:nvPr/>
        </p:nvSpPr>
        <p:spPr>
          <a:xfrm>
            <a:off x="766312" y="9582241"/>
            <a:ext cx="59997" cy="1259935"/>
          </a:xfrm>
          <a:prstGeom prst="rect">
            <a:avLst/>
          </a:prstGeom>
          <a:solidFill>
            <a:srgbClr val="397D2B"/>
          </a:solidFill>
          <a:ln w="12700">
            <a:solidFill>
              <a:srgbClr val="397D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7" name="Text 9">
            <a:extLst>
              <a:ext uri="{FF2B5EF4-FFF2-40B4-BE49-F238E27FC236}">
                <a16:creationId xmlns:a16="http://schemas.microsoft.com/office/drawing/2014/main" id="{33DAD17A-2D10-9545-3535-D28CE01C726C}"/>
              </a:ext>
            </a:extLst>
          </p:cNvPr>
          <p:cNvSpPr/>
          <p:nvPr/>
        </p:nvSpPr>
        <p:spPr>
          <a:xfrm>
            <a:off x="1343549" y="9689216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589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200" dirty="0">
              <a:solidFill>
                <a:srgbClr val="58904F"/>
              </a:solidFill>
            </a:endParaRPr>
          </a:p>
        </p:txBody>
      </p:sp>
      <p:sp>
        <p:nvSpPr>
          <p:cNvPr id="118" name="Text 10">
            <a:extLst>
              <a:ext uri="{FF2B5EF4-FFF2-40B4-BE49-F238E27FC236}">
                <a16:creationId xmlns:a16="http://schemas.microsoft.com/office/drawing/2014/main" id="{B6C5571F-FB24-501A-5BB3-0CB085E79A40}"/>
              </a:ext>
            </a:extLst>
          </p:cNvPr>
          <p:cNvSpPr/>
          <p:nvPr/>
        </p:nvSpPr>
        <p:spPr>
          <a:xfrm>
            <a:off x="1195021" y="10313003"/>
            <a:ext cx="3245636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12" dirty="0"/>
          </a:p>
        </p:txBody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B1F33738-4415-7D21-4DE5-4053D8C85D94}"/>
              </a:ext>
            </a:extLst>
          </p:cNvPr>
          <p:cNvSpPr/>
          <p:nvPr/>
        </p:nvSpPr>
        <p:spPr>
          <a:xfrm>
            <a:off x="1291016" y="10564990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#8 in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F547CB7-DF2D-9A7D-3CC8-EA5E3655BFC9}"/>
              </a:ext>
            </a:extLst>
          </p:cNvPr>
          <p:cNvCxnSpPr/>
          <p:nvPr/>
        </p:nvCxnSpPr>
        <p:spPr>
          <a:xfrm flipV="1">
            <a:off x="1205929" y="10564990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 10">
            <a:extLst>
              <a:ext uri="{FF2B5EF4-FFF2-40B4-BE49-F238E27FC236}">
                <a16:creationId xmlns:a16="http://schemas.microsoft.com/office/drawing/2014/main" id="{7D6265AE-0885-A820-EA93-09D576A6A868}"/>
              </a:ext>
            </a:extLst>
          </p:cNvPr>
          <p:cNvSpPr/>
          <p:nvPr/>
        </p:nvSpPr>
        <p:spPr>
          <a:xfrm>
            <a:off x="1608057" y="9593805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7D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BRAZIL EXPORTS</a:t>
            </a:r>
            <a:endParaRPr lang="en-US" sz="1312" dirty="0">
              <a:solidFill>
                <a:srgbClr val="7DA878"/>
              </a:solidFill>
            </a:endParaRPr>
          </a:p>
        </p:txBody>
      </p:sp>
      <p:pic>
        <p:nvPicPr>
          <p:cNvPr id="1036" name="Picture 2" descr="Brazil ">
            <a:extLst>
              <a:ext uri="{FF2B5EF4-FFF2-40B4-BE49-F238E27FC236}">
                <a16:creationId xmlns:a16="http://schemas.microsoft.com/office/drawing/2014/main" id="{1D7D428E-F7FD-63D5-C491-B469D41B7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701" y="9600657"/>
            <a:ext cx="280532" cy="28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Text 26">
            <a:extLst>
              <a:ext uri="{FF2B5EF4-FFF2-40B4-BE49-F238E27FC236}">
                <a16:creationId xmlns:a16="http://schemas.microsoft.com/office/drawing/2014/main" id="{DA33BC90-A687-CD1E-08F3-2D307F0CEB6F}"/>
              </a:ext>
            </a:extLst>
          </p:cNvPr>
          <p:cNvSpPr/>
          <p:nvPr/>
        </p:nvSpPr>
        <p:spPr>
          <a:xfrm>
            <a:off x="1216385" y="10303850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among Canada’s partners</a:t>
            </a:r>
            <a:endParaRPr lang="en-US" sz="1200" dirty="0"/>
          </a:p>
        </p:txBody>
      </p:sp>
      <p:sp>
        <p:nvSpPr>
          <p:cNvPr id="1064" name="Shape 12">
            <a:extLst>
              <a:ext uri="{FF2B5EF4-FFF2-40B4-BE49-F238E27FC236}">
                <a16:creationId xmlns:a16="http://schemas.microsoft.com/office/drawing/2014/main" id="{4FB47ACC-0F5F-BE16-EABB-CF26996931E5}"/>
              </a:ext>
            </a:extLst>
          </p:cNvPr>
          <p:cNvSpPr/>
          <p:nvPr/>
        </p:nvSpPr>
        <p:spPr>
          <a:xfrm>
            <a:off x="7512555" y="9584762"/>
            <a:ext cx="2648593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065" name="Shape 8">
            <a:extLst>
              <a:ext uri="{FF2B5EF4-FFF2-40B4-BE49-F238E27FC236}">
                <a16:creationId xmlns:a16="http://schemas.microsoft.com/office/drawing/2014/main" id="{E59287BB-27DA-A527-E3F9-1CCCC4309F58}"/>
              </a:ext>
            </a:extLst>
          </p:cNvPr>
          <p:cNvSpPr/>
          <p:nvPr/>
        </p:nvSpPr>
        <p:spPr>
          <a:xfrm>
            <a:off x="7512555" y="9584763"/>
            <a:ext cx="59997" cy="1259935"/>
          </a:xfrm>
          <a:prstGeom prst="rect">
            <a:avLst/>
          </a:prstGeom>
          <a:solidFill>
            <a:srgbClr val="397D2B"/>
          </a:solidFill>
          <a:ln w="12700">
            <a:solidFill>
              <a:srgbClr val="397D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066" name="Text 9">
            <a:extLst>
              <a:ext uri="{FF2B5EF4-FFF2-40B4-BE49-F238E27FC236}">
                <a16:creationId xmlns:a16="http://schemas.microsoft.com/office/drawing/2014/main" id="{5691F790-ED23-1956-3E2E-3A06A311E765}"/>
              </a:ext>
            </a:extLst>
          </p:cNvPr>
          <p:cNvSpPr/>
          <p:nvPr/>
        </p:nvSpPr>
        <p:spPr>
          <a:xfrm>
            <a:off x="8089792" y="9691738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589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 7</a:t>
            </a:r>
            <a:endParaRPr lang="en-US" sz="3200" dirty="0">
              <a:solidFill>
                <a:srgbClr val="58904F"/>
              </a:solidFill>
            </a:endParaRPr>
          </a:p>
        </p:txBody>
      </p:sp>
      <p:sp>
        <p:nvSpPr>
          <p:cNvPr id="1067" name="Text 10">
            <a:extLst>
              <a:ext uri="{FF2B5EF4-FFF2-40B4-BE49-F238E27FC236}">
                <a16:creationId xmlns:a16="http://schemas.microsoft.com/office/drawing/2014/main" id="{CE652915-9051-F3D3-AAC1-22BB3E4D6031}"/>
              </a:ext>
            </a:extLst>
          </p:cNvPr>
          <p:cNvSpPr/>
          <p:nvPr/>
        </p:nvSpPr>
        <p:spPr>
          <a:xfrm>
            <a:off x="7941264" y="10315525"/>
            <a:ext cx="3245636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12" dirty="0"/>
          </a:p>
        </p:txBody>
      </p:sp>
      <p:sp>
        <p:nvSpPr>
          <p:cNvPr id="1068" name="Text 11">
            <a:extLst>
              <a:ext uri="{FF2B5EF4-FFF2-40B4-BE49-F238E27FC236}">
                <a16:creationId xmlns:a16="http://schemas.microsoft.com/office/drawing/2014/main" id="{AC9A1AAE-6E34-01CF-ACE0-A1D6D95D1038}"/>
              </a:ext>
            </a:extLst>
          </p:cNvPr>
          <p:cNvSpPr/>
          <p:nvPr/>
        </p:nvSpPr>
        <p:spPr>
          <a:xfrm>
            <a:off x="8037259" y="10567512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Was #8 in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26982E6B-CF66-9E6E-ACC3-5CC8701048D7}"/>
              </a:ext>
            </a:extLst>
          </p:cNvPr>
          <p:cNvCxnSpPr/>
          <p:nvPr/>
        </p:nvCxnSpPr>
        <p:spPr>
          <a:xfrm flipV="1">
            <a:off x="7952172" y="10567512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Text 10">
            <a:extLst>
              <a:ext uri="{FF2B5EF4-FFF2-40B4-BE49-F238E27FC236}">
                <a16:creationId xmlns:a16="http://schemas.microsoft.com/office/drawing/2014/main" id="{D73BA57B-729C-E541-F915-749BC8FE58BA}"/>
              </a:ext>
            </a:extLst>
          </p:cNvPr>
          <p:cNvSpPr/>
          <p:nvPr/>
        </p:nvSpPr>
        <p:spPr>
          <a:xfrm>
            <a:off x="8354300" y="9596327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7D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 7 PARTNER RANK</a:t>
            </a:r>
            <a:endParaRPr lang="en-US" sz="1312" dirty="0">
              <a:solidFill>
                <a:srgbClr val="7DA878"/>
              </a:solidFill>
            </a:endParaRPr>
          </a:p>
        </p:txBody>
      </p:sp>
      <p:pic>
        <p:nvPicPr>
          <p:cNvPr id="1071" name="Picture 2" descr="Brazil ">
            <a:extLst>
              <a:ext uri="{FF2B5EF4-FFF2-40B4-BE49-F238E27FC236}">
                <a16:creationId xmlns:a16="http://schemas.microsoft.com/office/drawing/2014/main" id="{3BCAB11F-A300-063B-6038-2BD3C29C2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44" y="9603179"/>
            <a:ext cx="280532" cy="28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2" name="Text 26">
            <a:extLst>
              <a:ext uri="{FF2B5EF4-FFF2-40B4-BE49-F238E27FC236}">
                <a16:creationId xmlns:a16="http://schemas.microsoft.com/office/drawing/2014/main" id="{A184869A-5CC7-76FB-4402-CD22E9D2FCCA}"/>
              </a:ext>
            </a:extLst>
          </p:cNvPr>
          <p:cNvSpPr/>
          <p:nvPr/>
        </p:nvSpPr>
        <p:spPr>
          <a:xfrm>
            <a:off x="7962628" y="10306372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among Canada’s partners</a:t>
            </a:r>
            <a:endParaRPr lang="en-US" sz="1200" dirty="0"/>
          </a:p>
        </p:txBody>
      </p:sp>
      <p:sp>
        <p:nvSpPr>
          <p:cNvPr id="1073" name="Shape 12">
            <a:extLst>
              <a:ext uri="{FF2B5EF4-FFF2-40B4-BE49-F238E27FC236}">
                <a16:creationId xmlns:a16="http://schemas.microsoft.com/office/drawing/2014/main" id="{565C621B-38B3-B3BD-215F-904FF2BB6B06}"/>
              </a:ext>
            </a:extLst>
          </p:cNvPr>
          <p:cNvSpPr/>
          <p:nvPr/>
        </p:nvSpPr>
        <p:spPr>
          <a:xfrm>
            <a:off x="4108536" y="9560296"/>
            <a:ext cx="2648593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074" name="Shape 8">
            <a:extLst>
              <a:ext uri="{FF2B5EF4-FFF2-40B4-BE49-F238E27FC236}">
                <a16:creationId xmlns:a16="http://schemas.microsoft.com/office/drawing/2014/main" id="{34CA020F-DB76-2DBA-25EA-7F5C61ED30D6}"/>
              </a:ext>
            </a:extLst>
          </p:cNvPr>
          <p:cNvSpPr/>
          <p:nvPr/>
        </p:nvSpPr>
        <p:spPr>
          <a:xfrm>
            <a:off x="4108536" y="9560297"/>
            <a:ext cx="59997" cy="1259935"/>
          </a:xfrm>
          <a:prstGeom prst="rect">
            <a:avLst/>
          </a:prstGeom>
          <a:solidFill>
            <a:srgbClr val="397D2B"/>
          </a:solidFill>
          <a:ln w="12700">
            <a:solidFill>
              <a:srgbClr val="397D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075" name="Text 9">
            <a:extLst>
              <a:ext uri="{FF2B5EF4-FFF2-40B4-BE49-F238E27FC236}">
                <a16:creationId xmlns:a16="http://schemas.microsoft.com/office/drawing/2014/main" id="{33E29989-54A2-D05A-202D-1780648638FF}"/>
              </a:ext>
            </a:extLst>
          </p:cNvPr>
          <p:cNvSpPr/>
          <p:nvPr/>
        </p:nvSpPr>
        <p:spPr>
          <a:xfrm>
            <a:off x="4685773" y="9667272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rgbClr val="589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200" dirty="0">
              <a:solidFill>
                <a:srgbClr val="58904F"/>
              </a:solidFill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85BE03CB-249D-EC29-E322-9D0E88743F65}"/>
              </a:ext>
            </a:extLst>
          </p:cNvPr>
          <p:cNvSpPr/>
          <p:nvPr/>
        </p:nvSpPr>
        <p:spPr>
          <a:xfrm>
            <a:off x="4633240" y="10543046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vs 2024</a:t>
            </a:r>
            <a:endParaRPr lang="en-US" sz="1400" dirty="0">
              <a:solidFill>
                <a:srgbClr val="525151"/>
              </a:solidFill>
            </a:endParaRPr>
          </a:p>
        </p:txBody>
      </p: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76A6F54C-1875-E18C-39D2-66221E30A876}"/>
              </a:ext>
            </a:extLst>
          </p:cNvPr>
          <p:cNvCxnSpPr/>
          <p:nvPr/>
        </p:nvCxnSpPr>
        <p:spPr>
          <a:xfrm flipV="1">
            <a:off x="4548153" y="10543046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Text 10">
            <a:extLst>
              <a:ext uri="{FF2B5EF4-FFF2-40B4-BE49-F238E27FC236}">
                <a16:creationId xmlns:a16="http://schemas.microsoft.com/office/drawing/2014/main" id="{052CBB87-5349-8A3B-41D0-B18E71ADBFD1}"/>
              </a:ext>
            </a:extLst>
          </p:cNvPr>
          <p:cNvSpPr/>
          <p:nvPr/>
        </p:nvSpPr>
        <p:spPr>
          <a:xfrm>
            <a:off x="4950281" y="9571861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7D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BRAZIL IMPORTS</a:t>
            </a:r>
            <a:endParaRPr lang="en-US" sz="1312" dirty="0">
              <a:solidFill>
                <a:srgbClr val="7DA878"/>
              </a:solidFill>
            </a:endParaRPr>
          </a:p>
        </p:txBody>
      </p:sp>
      <p:pic>
        <p:nvPicPr>
          <p:cNvPr id="1079" name="Picture 2" descr="Brazil ">
            <a:extLst>
              <a:ext uri="{FF2B5EF4-FFF2-40B4-BE49-F238E27FC236}">
                <a16:creationId xmlns:a16="http://schemas.microsoft.com/office/drawing/2014/main" id="{BD3777D3-47B3-BD25-9931-9D82F31F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925" y="9578713"/>
            <a:ext cx="280532" cy="28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0" name="Text 26">
            <a:extLst>
              <a:ext uri="{FF2B5EF4-FFF2-40B4-BE49-F238E27FC236}">
                <a16:creationId xmlns:a16="http://schemas.microsoft.com/office/drawing/2014/main" id="{A4E8A593-5E0A-D049-1E5A-64C2EC85DEC5}"/>
              </a:ext>
            </a:extLst>
          </p:cNvPr>
          <p:cNvSpPr/>
          <p:nvPr/>
        </p:nvSpPr>
        <p:spPr>
          <a:xfrm>
            <a:off x="4558609" y="10281906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→ Brazil</a:t>
            </a:r>
            <a:endParaRPr lang="en-US" sz="1200" dirty="0"/>
          </a:p>
        </p:txBody>
      </p:sp>
      <p:pic>
        <p:nvPicPr>
          <p:cNvPr id="1091" name="Picture 1090">
            <a:extLst>
              <a:ext uri="{FF2B5EF4-FFF2-40B4-BE49-F238E27FC236}">
                <a16:creationId xmlns:a16="http://schemas.microsoft.com/office/drawing/2014/main" id="{A0BEAC74-028A-17C7-9763-9F4BA6CA41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846" y="16187248"/>
            <a:ext cx="5082156" cy="4170357"/>
          </a:xfrm>
          <a:prstGeom prst="rect">
            <a:avLst/>
          </a:prstGeom>
        </p:spPr>
      </p:pic>
      <p:pic>
        <p:nvPicPr>
          <p:cNvPr id="1092" name="Picture 1091">
            <a:extLst>
              <a:ext uri="{FF2B5EF4-FFF2-40B4-BE49-F238E27FC236}">
                <a16:creationId xmlns:a16="http://schemas.microsoft.com/office/drawing/2014/main" id="{980EF6EF-0E25-40FD-873A-F574160296B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6994"/>
          <a:stretch>
            <a:fillRect/>
          </a:stretch>
        </p:blipFill>
        <p:spPr>
          <a:xfrm>
            <a:off x="1548060" y="11084172"/>
            <a:ext cx="5602441" cy="2955746"/>
          </a:xfrm>
          <a:prstGeom prst="rect">
            <a:avLst/>
          </a:prstGeom>
        </p:spPr>
      </p:pic>
      <p:sp>
        <p:nvSpPr>
          <p:cNvPr id="1093" name="Shape 92">
            <a:extLst>
              <a:ext uri="{FF2B5EF4-FFF2-40B4-BE49-F238E27FC236}">
                <a16:creationId xmlns:a16="http://schemas.microsoft.com/office/drawing/2014/main" id="{F9A5CC1E-50BC-F257-D424-23EBD793D9DB}"/>
              </a:ext>
            </a:extLst>
          </p:cNvPr>
          <p:cNvSpPr/>
          <p:nvPr/>
        </p:nvSpPr>
        <p:spPr>
          <a:xfrm>
            <a:off x="8445925" y="11675261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3A7D2C"/>
          </a:solidFill>
          <a:ln w="12700">
            <a:solidFill>
              <a:srgbClr val="3A7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Text 93">
            <a:extLst>
              <a:ext uri="{FF2B5EF4-FFF2-40B4-BE49-F238E27FC236}">
                <a16:creationId xmlns:a16="http://schemas.microsoft.com/office/drawing/2014/main" id="{A435F9A9-4EB1-F612-7189-E42C95520235}"/>
              </a:ext>
            </a:extLst>
          </p:cNvPr>
          <p:cNvSpPr/>
          <p:nvPr/>
        </p:nvSpPr>
        <p:spPr>
          <a:xfrm>
            <a:off x="8445925" y="1167526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BR</a:t>
            </a:r>
            <a:endParaRPr lang="en-US" sz="700" dirty="0"/>
          </a:p>
        </p:txBody>
      </p:sp>
      <p:sp>
        <p:nvSpPr>
          <p:cNvPr id="1095" name="Text 94">
            <a:extLst>
              <a:ext uri="{FF2B5EF4-FFF2-40B4-BE49-F238E27FC236}">
                <a16:creationId xmlns:a16="http://schemas.microsoft.com/office/drawing/2014/main" id="{C3770C5F-1DF8-6C3A-E0EB-4E6D7C449D6E}"/>
              </a:ext>
            </a:extLst>
          </p:cNvPr>
          <p:cNvSpPr/>
          <p:nvPr/>
        </p:nvSpPr>
        <p:spPr>
          <a:xfrm>
            <a:off x="9195733" y="11675261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TRADE TREND VS PEERS</a:t>
            </a:r>
            <a:endParaRPr lang="en-US" sz="700" dirty="0"/>
          </a:p>
        </p:txBody>
      </p:sp>
      <p:graphicFrame>
        <p:nvGraphicFramePr>
          <p:cNvPr id="1096" name="Chart 2">
            <a:extLst>
              <a:ext uri="{FF2B5EF4-FFF2-40B4-BE49-F238E27FC236}">
                <a16:creationId xmlns:a16="http://schemas.microsoft.com/office/drawing/2014/main" id="{BE274BFC-A2FA-1149-1DF2-BFED2B016D3C}"/>
              </a:ext>
            </a:extLst>
          </p:cNvPr>
          <p:cNvGraphicFramePr/>
          <p:nvPr/>
        </p:nvGraphicFramePr>
        <p:xfrm>
          <a:off x="7474289" y="11663419"/>
          <a:ext cx="5887568" cy="2123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097" name="Text 94">
            <a:extLst>
              <a:ext uri="{FF2B5EF4-FFF2-40B4-BE49-F238E27FC236}">
                <a16:creationId xmlns:a16="http://schemas.microsoft.com/office/drawing/2014/main" id="{0960BF94-AB03-FEB9-B6F2-D0FD34F19718}"/>
              </a:ext>
            </a:extLst>
          </p:cNvPr>
          <p:cNvSpPr/>
          <p:nvPr/>
        </p:nvSpPr>
        <p:spPr>
          <a:xfrm>
            <a:off x="7779702" y="113514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TRADE TREND VS PEERS</a:t>
            </a:r>
            <a:endParaRPr lang="en-US" sz="1000" dirty="0"/>
          </a:p>
        </p:txBody>
      </p:sp>
      <p:sp>
        <p:nvSpPr>
          <p:cNvPr id="1104" name="Shape 12">
            <a:extLst>
              <a:ext uri="{FF2B5EF4-FFF2-40B4-BE49-F238E27FC236}">
                <a16:creationId xmlns:a16="http://schemas.microsoft.com/office/drawing/2014/main" id="{C6B02D06-798D-4B9B-69A5-48617BA2A740}"/>
              </a:ext>
            </a:extLst>
          </p:cNvPr>
          <p:cNvSpPr/>
          <p:nvPr/>
        </p:nvSpPr>
        <p:spPr>
          <a:xfrm>
            <a:off x="1318281" y="14639182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05" name="Shape 8">
            <a:extLst>
              <a:ext uri="{FF2B5EF4-FFF2-40B4-BE49-F238E27FC236}">
                <a16:creationId xmlns:a16="http://schemas.microsoft.com/office/drawing/2014/main" id="{B3D1034C-4A72-7DFB-27F3-4C02122CA652}"/>
              </a:ext>
            </a:extLst>
          </p:cNvPr>
          <p:cNvSpPr/>
          <p:nvPr/>
        </p:nvSpPr>
        <p:spPr>
          <a:xfrm>
            <a:off x="1318281" y="14639183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06" name="Text 9">
            <a:extLst>
              <a:ext uri="{FF2B5EF4-FFF2-40B4-BE49-F238E27FC236}">
                <a16:creationId xmlns:a16="http://schemas.microsoft.com/office/drawing/2014/main" id="{010F7488-E60F-8FB4-3AE9-970C7C61F2F4}"/>
              </a:ext>
            </a:extLst>
          </p:cNvPr>
          <p:cNvSpPr/>
          <p:nvPr/>
        </p:nvSpPr>
        <p:spPr>
          <a:xfrm>
            <a:off x="1895518" y="14746158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107" name="Text 11">
            <a:extLst>
              <a:ext uri="{FF2B5EF4-FFF2-40B4-BE49-F238E27FC236}">
                <a16:creationId xmlns:a16="http://schemas.microsoft.com/office/drawing/2014/main" id="{90DE6FC8-6367-338B-D6E5-9CF61F1F8CAA}"/>
              </a:ext>
            </a:extLst>
          </p:cNvPr>
          <p:cNvSpPr/>
          <p:nvPr/>
        </p:nvSpPr>
        <p:spPr>
          <a:xfrm>
            <a:off x="1842985" y="15621932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109" name="Text 26">
            <a:extLst>
              <a:ext uri="{FF2B5EF4-FFF2-40B4-BE49-F238E27FC236}">
                <a16:creationId xmlns:a16="http://schemas.microsoft.com/office/drawing/2014/main" id="{5AE6A859-B464-FE76-EC87-CD6AC21B131D}"/>
              </a:ext>
            </a:extLst>
          </p:cNvPr>
          <p:cNvSpPr/>
          <p:nvPr/>
        </p:nvSpPr>
        <p:spPr>
          <a:xfrm>
            <a:off x="1763795" y="15463899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– highest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</a:t>
            </a:r>
            <a:endParaRPr lang="en-US" sz="1200" dirty="0"/>
          </a:p>
        </p:txBody>
      </p:sp>
      <p:sp>
        <p:nvSpPr>
          <p:cNvPr id="1110" name="Text 10">
            <a:extLst>
              <a:ext uri="{FF2B5EF4-FFF2-40B4-BE49-F238E27FC236}">
                <a16:creationId xmlns:a16="http://schemas.microsoft.com/office/drawing/2014/main" id="{367D286F-B5CA-090F-5410-BDBC311F9777}"/>
              </a:ext>
            </a:extLst>
          </p:cNvPr>
          <p:cNvSpPr/>
          <p:nvPr/>
        </p:nvSpPr>
        <p:spPr>
          <a:xfrm>
            <a:off x="1719418" y="14678257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H2S CHAPTER</a:t>
            </a:r>
            <a:endParaRPr lang="en-US" sz="1312" dirty="0">
              <a:solidFill>
                <a:srgbClr val="E3932B"/>
              </a:solidFill>
            </a:endParaRPr>
          </a:p>
        </p:txBody>
      </p:sp>
      <p:sp>
        <p:nvSpPr>
          <p:cNvPr id="1111" name="Shape 12">
            <a:extLst>
              <a:ext uri="{FF2B5EF4-FFF2-40B4-BE49-F238E27FC236}">
                <a16:creationId xmlns:a16="http://schemas.microsoft.com/office/drawing/2014/main" id="{6AE8417C-8A15-34B7-947C-804CFB83C3CF}"/>
              </a:ext>
            </a:extLst>
          </p:cNvPr>
          <p:cNvSpPr/>
          <p:nvPr/>
        </p:nvSpPr>
        <p:spPr>
          <a:xfrm>
            <a:off x="5919512" y="14575600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12" name="Shape 8">
            <a:extLst>
              <a:ext uri="{FF2B5EF4-FFF2-40B4-BE49-F238E27FC236}">
                <a16:creationId xmlns:a16="http://schemas.microsoft.com/office/drawing/2014/main" id="{6954382A-55F8-4A26-A5AC-8A0B01A35460}"/>
              </a:ext>
            </a:extLst>
          </p:cNvPr>
          <p:cNvSpPr/>
          <p:nvPr/>
        </p:nvSpPr>
        <p:spPr>
          <a:xfrm>
            <a:off x="5919512" y="14575601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13" name="Text 9">
            <a:extLst>
              <a:ext uri="{FF2B5EF4-FFF2-40B4-BE49-F238E27FC236}">
                <a16:creationId xmlns:a16="http://schemas.microsoft.com/office/drawing/2014/main" id="{D9006688-4BBB-9B00-7B14-71F3E4C177BB}"/>
              </a:ext>
            </a:extLst>
          </p:cNvPr>
          <p:cNvSpPr/>
          <p:nvPr/>
        </p:nvSpPr>
        <p:spPr>
          <a:xfrm>
            <a:off x="6496749" y="14682576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+12%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114" name="Text 11">
            <a:extLst>
              <a:ext uri="{FF2B5EF4-FFF2-40B4-BE49-F238E27FC236}">
                <a16:creationId xmlns:a16="http://schemas.microsoft.com/office/drawing/2014/main" id="{30A11CF3-BBB4-39CD-46B0-A07CE885522D}"/>
              </a:ext>
            </a:extLst>
          </p:cNvPr>
          <p:cNvSpPr/>
          <p:nvPr/>
        </p:nvSpPr>
        <p:spPr>
          <a:xfrm>
            <a:off x="6444216" y="15558350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115" name="Text 26">
            <a:extLst>
              <a:ext uri="{FF2B5EF4-FFF2-40B4-BE49-F238E27FC236}">
                <a16:creationId xmlns:a16="http://schemas.microsoft.com/office/drawing/2014/main" id="{78E3ADE0-D385-87A0-2058-8D0D45B78B95}"/>
              </a:ext>
            </a:extLst>
          </p:cNvPr>
          <p:cNvSpPr/>
          <p:nvPr/>
        </p:nvSpPr>
        <p:spPr>
          <a:xfrm>
            <a:off x="6365026" y="15400317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goods</a:t>
            </a:r>
            <a:endParaRPr lang="en-US" sz="1200" dirty="0"/>
          </a:p>
        </p:txBody>
      </p:sp>
      <p:sp>
        <p:nvSpPr>
          <p:cNvPr id="1116" name="Text 10">
            <a:extLst>
              <a:ext uri="{FF2B5EF4-FFF2-40B4-BE49-F238E27FC236}">
                <a16:creationId xmlns:a16="http://schemas.microsoft.com/office/drawing/2014/main" id="{49970F50-670E-4ADE-EA73-62A45F153115}"/>
              </a:ext>
            </a:extLst>
          </p:cNvPr>
          <p:cNvSpPr/>
          <p:nvPr/>
        </p:nvSpPr>
        <p:spPr>
          <a:xfrm>
            <a:off x="6320649" y="14614675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</a:t>
            </a:r>
            <a:endParaRPr lang="en-US" sz="1312" dirty="0">
              <a:solidFill>
                <a:srgbClr val="E3932B"/>
              </a:solidFill>
            </a:endParaRPr>
          </a:p>
        </p:txBody>
      </p:sp>
      <p:sp>
        <p:nvSpPr>
          <p:cNvPr id="1117" name="Shape 12">
            <a:extLst>
              <a:ext uri="{FF2B5EF4-FFF2-40B4-BE49-F238E27FC236}">
                <a16:creationId xmlns:a16="http://schemas.microsoft.com/office/drawing/2014/main" id="{4EA7E5FD-511C-D459-DFE4-0CA7F4E5AC87}"/>
              </a:ext>
            </a:extLst>
          </p:cNvPr>
          <p:cNvSpPr/>
          <p:nvPr/>
        </p:nvSpPr>
        <p:spPr>
          <a:xfrm>
            <a:off x="10223072" y="14588897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18" name="Shape 8">
            <a:extLst>
              <a:ext uri="{FF2B5EF4-FFF2-40B4-BE49-F238E27FC236}">
                <a16:creationId xmlns:a16="http://schemas.microsoft.com/office/drawing/2014/main" id="{1764F28D-A951-81E1-F8B7-98525D542CEA}"/>
              </a:ext>
            </a:extLst>
          </p:cNvPr>
          <p:cNvSpPr/>
          <p:nvPr/>
        </p:nvSpPr>
        <p:spPr>
          <a:xfrm>
            <a:off x="10223072" y="14588898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19" name="Text 9">
            <a:extLst>
              <a:ext uri="{FF2B5EF4-FFF2-40B4-BE49-F238E27FC236}">
                <a16:creationId xmlns:a16="http://schemas.microsoft.com/office/drawing/2014/main" id="{0C43BA40-0963-1AAD-2746-3835A8818A28}"/>
              </a:ext>
            </a:extLst>
          </p:cNvPr>
          <p:cNvSpPr/>
          <p:nvPr/>
        </p:nvSpPr>
        <p:spPr>
          <a:xfrm>
            <a:off x="10800309" y="14695873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115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120" name="Text 11">
            <a:extLst>
              <a:ext uri="{FF2B5EF4-FFF2-40B4-BE49-F238E27FC236}">
                <a16:creationId xmlns:a16="http://schemas.microsoft.com/office/drawing/2014/main" id="{3C89611F-C021-4B36-AEB4-E8E21D942606}"/>
              </a:ext>
            </a:extLst>
          </p:cNvPr>
          <p:cNvSpPr/>
          <p:nvPr/>
        </p:nvSpPr>
        <p:spPr>
          <a:xfrm>
            <a:off x="10747776" y="15571647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121" name="Text 26">
            <a:extLst>
              <a:ext uri="{FF2B5EF4-FFF2-40B4-BE49-F238E27FC236}">
                <a16:creationId xmlns:a16="http://schemas.microsoft.com/office/drawing/2014/main" id="{5FE4185E-7766-43F0-0082-AE6037C31ADC}"/>
              </a:ext>
            </a:extLst>
          </p:cNvPr>
          <p:cNvSpPr/>
          <p:nvPr/>
        </p:nvSpPr>
        <p:spPr>
          <a:xfrm>
            <a:off x="10668586" y="15413614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commodities</a:t>
            </a:r>
          </a:p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Brazil-Canada only</a:t>
            </a:r>
            <a:endParaRPr lang="en-US" sz="1200" dirty="0"/>
          </a:p>
        </p:txBody>
      </p:sp>
      <p:sp>
        <p:nvSpPr>
          <p:cNvPr id="1122" name="Text 10">
            <a:extLst>
              <a:ext uri="{FF2B5EF4-FFF2-40B4-BE49-F238E27FC236}">
                <a16:creationId xmlns:a16="http://schemas.microsoft.com/office/drawing/2014/main" id="{0773E224-6B4C-E653-2693-7DC1D11E1C5C}"/>
              </a:ext>
            </a:extLst>
          </p:cNvPr>
          <p:cNvSpPr/>
          <p:nvPr/>
        </p:nvSpPr>
        <p:spPr>
          <a:xfrm>
            <a:off x="10624209" y="14627972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EXPORTS</a:t>
            </a:r>
            <a:endParaRPr lang="en-US" sz="1312" dirty="0">
              <a:solidFill>
                <a:srgbClr val="E3932B"/>
              </a:solidFill>
            </a:endParaRPr>
          </a:p>
        </p:txBody>
      </p:sp>
      <p:pic>
        <p:nvPicPr>
          <p:cNvPr id="1123" name="Picture 2" descr="Brazil ">
            <a:extLst>
              <a:ext uri="{FF2B5EF4-FFF2-40B4-BE49-F238E27FC236}">
                <a16:creationId xmlns:a16="http://schemas.microsoft.com/office/drawing/2014/main" id="{41227585-34E2-0EE3-865D-138FB01F0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4337" y="14635414"/>
            <a:ext cx="280532" cy="28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4" name="Shape 12">
            <a:extLst>
              <a:ext uri="{FF2B5EF4-FFF2-40B4-BE49-F238E27FC236}">
                <a16:creationId xmlns:a16="http://schemas.microsoft.com/office/drawing/2014/main" id="{7E773E80-3CC6-BA95-C9A1-D3EC5D986835}"/>
              </a:ext>
            </a:extLst>
          </p:cNvPr>
          <p:cNvSpPr/>
          <p:nvPr/>
        </p:nvSpPr>
        <p:spPr>
          <a:xfrm>
            <a:off x="1135024" y="21248584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25" name="Shape 8">
            <a:extLst>
              <a:ext uri="{FF2B5EF4-FFF2-40B4-BE49-F238E27FC236}">
                <a16:creationId xmlns:a16="http://schemas.microsoft.com/office/drawing/2014/main" id="{2216247C-D94B-2F5C-EA8D-6D11C84A21C0}"/>
              </a:ext>
            </a:extLst>
          </p:cNvPr>
          <p:cNvSpPr/>
          <p:nvPr/>
        </p:nvSpPr>
        <p:spPr>
          <a:xfrm>
            <a:off x="1135024" y="21248585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26" name="Text 9">
            <a:extLst>
              <a:ext uri="{FF2B5EF4-FFF2-40B4-BE49-F238E27FC236}">
                <a16:creationId xmlns:a16="http://schemas.microsoft.com/office/drawing/2014/main" id="{6168A105-34D8-AE06-14DA-9F9E7601E64D}"/>
              </a:ext>
            </a:extLst>
          </p:cNvPr>
          <p:cNvSpPr/>
          <p:nvPr/>
        </p:nvSpPr>
        <p:spPr>
          <a:xfrm>
            <a:off x="1712261" y="21355560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127" name="Text 11">
            <a:extLst>
              <a:ext uri="{FF2B5EF4-FFF2-40B4-BE49-F238E27FC236}">
                <a16:creationId xmlns:a16="http://schemas.microsoft.com/office/drawing/2014/main" id="{6F8DCD4D-3671-AEE9-EDC7-305A6EE052C5}"/>
              </a:ext>
            </a:extLst>
          </p:cNvPr>
          <p:cNvSpPr/>
          <p:nvPr/>
        </p:nvSpPr>
        <p:spPr>
          <a:xfrm>
            <a:off x="1659728" y="22231334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128" name="Text 26">
            <a:extLst>
              <a:ext uri="{FF2B5EF4-FFF2-40B4-BE49-F238E27FC236}">
                <a16:creationId xmlns:a16="http://schemas.microsoft.com/office/drawing/2014/main" id="{99D677B7-E502-DA46-2CFE-FCD4B1129D08}"/>
              </a:ext>
            </a:extLst>
          </p:cNvPr>
          <p:cNvSpPr/>
          <p:nvPr/>
        </p:nvSpPr>
        <p:spPr>
          <a:xfrm>
            <a:off x="1580538" y="22073301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 Leads CA exports</a:t>
            </a:r>
          </a:p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38% of total volume</a:t>
            </a:r>
            <a:endParaRPr lang="en-US" sz="1200" dirty="0"/>
          </a:p>
        </p:txBody>
      </p:sp>
      <p:sp>
        <p:nvSpPr>
          <p:cNvPr id="1129" name="Text 10">
            <a:extLst>
              <a:ext uri="{FF2B5EF4-FFF2-40B4-BE49-F238E27FC236}">
                <a16:creationId xmlns:a16="http://schemas.microsoft.com/office/drawing/2014/main" id="{57D314DE-EA75-D2DF-CFCC-CA3AFA235B5A}"/>
              </a:ext>
            </a:extLst>
          </p:cNvPr>
          <p:cNvSpPr/>
          <p:nvPr/>
        </p:nvSpPr>
        <p:spPr>
          <a:xfrm>
            <a:off x="1536161" y="21287659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Province</a:t>
            </a:r>
            <a:endParaRPr lang="en-US" sz="1312" dirty="0">
              <a:solidFill>
                <a:srgbClr val="E3932B"/>
              </a:solidFill>
            </a:endParaRPr>
          </a:p>
        </p:txBody>
      </p:sp>
      <p:sp>
        <p:nvSpPr>
          <p:cNvPr id="1130" name="Shape 12">
            <a:extLst>
              <a:ext uri="{FF2B5EF4-FFF2-40B4-BE49-F238E27FC236}">
                <a16:creationId xmlns:a16="http://schemas.microsoft.com/office/drawing/2014/main" id="{8169A62A-D4CB-77DC-D084-1F7F1C18212B}"/>
              </a:ext>
            </a:extLst>
          </p:cNvPr>
          <p:cNvSpPr/>
          <p:nvPr/>
        </p:nvSpPr>
        <p:spPr>
          <a:xfrm>
            <a:off x="5736255" y="21185002"/>
            <a:ext cx="3619479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131" name="Shape 8">
            <a:extLst>
              <a:ext uri="{FF2B5EF4-FFF2-40B4-BE49-F238E27FC236}">
                <a16:creationId xmlns:a16="http://schemas.microsoft.com/office/drawing/2014/main" id="{738EE985-5C92-9C7F-EFD0-D4CCA97533A4}"/>
              </a:ext>
            </a:extLst>
          </p:cNvPr>
          <p:cNvSpPr/>
          <p:nvPr/>
        </p:nvSpPr>
        <p:spPr>
          <a:xfrm>
            <a:off x="5736255" y="21185003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solidFill>
              <a:srgbClr val="E3932B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132" name="Text 9">
            <a:extLst>
              <a:ext uri="{FF2B5EF4-FFF2-40B4-BE49-F238E27FC236}">
                <a16:creationId xmlns:a16="http://schemas.microsoft.com/office/drawing/2014/main" id="{A1412B9B-3BF2-AF6D-8056-1CC9B6CC8104}"/>
              </a:ext>
            </a:extLst>
          </p:cNvPr>
          <p:cNvSpPr/>
          <p:nvPr/>
        </p:nvSpPr>
        <p:spPr>
          <a:xfrm>
            <a:off x="6313492" y="21291978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133" name="Text 11">
            <a:extLst>
              <a:ext uri="{FF2B5EF4-FFF2-40B4-BE49-F238E27FC236}">
                <a16:creationId xmlns:a16="http://schemas.microsoft.com/office/drawing/2014/main" id="{B8D425FE-384F-BB33-0704-A9F4D31376F3}"/>
              </a:ext>
            </a:extLst>
          </p:cNvPr>
          <p:cNvSpPr/>
          <p:nvPr/>
        </p:nvSpPr>
        <p:spPr>
          <a:xfrm>
            <a:off x="6260959" y="22167752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134" name="Text 26">
            <a:extLst>
              <a:ext uri="{FF2B5EF4-FFF2-40B4-BE49-F238E27FC236}">
                <a16:creationId xmlns:a16="http://schemas.microsoft.com/office/drawing/2014/main" id="{F6249456-A272-D370-2611-2E739433CE15}"/>
              </a:ext>
            </a:extLst>
          </p:cNvPr>
          <p:cNvSpPr/>
          <p:nvPr/>
        </p:nvSpPr>
        <p:spPr>
          <a:xfrm>
            <a:off x="6181769" y="22009719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most active with Brazil</a:t>
            </a:r>
          </a:p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34% of CA -. BR exports</a:t>
            </a:r>
            <a:endParaRPr lang="en-US" sz="1200" dirty="0"/>
          </a:p>
        </p:txBody>
      </p:sp>
      <p:sp>
        <p:nvSpPr>
          <p:cNvPr id="1135" name="Text 10">
            <a:extLst>
              <a:ext uri="{FF2B5EF4-FFF2-40B4-BE49-F238E27FC236}">
                <a16:creationId xmlns:a16="http://schemas.microsoft.com/office/drawing/2014/main" id="{2CECB050-AD75-11FB-C072-E393C46BEE53}"/>
              </a:ext>
            </a:extLst>
          </p:cNvPr>
          <p:cNvSpPr/>
          <p:nvPr/>
        </p:nvSpPr>
        <p:spPr>
          <a:xfrm>
            <a:off x="6137392" y="21224077"/>
            <a:ext cx="2106835" cy="33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5F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12" b="1" dirty="0">
                <a:solidFill>
                  <a:srgbClr val="E3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 origin</a:t>
            </a:r>
            <a:endParaRPr lang="en-US" sz="1312" dirty="0">
              <a:solidFill>
                <a:srgbClr val="E3932B"/>
              </a:solidFill>
            </a:endParaRPr>
          </a:p>
        </p:txBody>
      </p:sp>
      <p:graphicFrame>
        <p:nvGraphicFramePr>
          <p:cNvPr id="1139" name="Chart 2">
            <a:extLst>
              <a:ext uri="{FF2B5EF4-FFF2-40B4-BE49-F238E27FC236}">
                <a16:creationId xmlns:a16="http://schemas.microsoft.com/office/drawing/2014/main" id="{0C27C3A9-6FF3-C8FF-F085-69001B7BB354}"/>
              </a:ext>
            </a:extLst>
          </p:cNvPr>
          <p:cNvGraphicFramePr/>
          <p:nvPr/>
        </p:nvGraphicFramePr>
        <p:xfrm>
          <a:off x="7876321" y="23851646"/>
          <a:ext cx="5932443" cy="4020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140" name="Text 53">
            <a:extLst>
              <a:ext uri="{FF2B5EF4-FFF2-40B4-BE49-F238E27FC236}">
                <a16:creationId xmlns:a16="http://schemas.microsoft.com/office/drawing/2014/main" id="{577E06D6-ECD6-CF03-DA96-B0B3AAE3E5AA}"/>
              </a:ext>
            </a:extLst>
          </p:cNvPr>
          <p:cNvSpPr/>
          <p:nvPr/>
        </p:nvSpPr>
        <p:spPr>
          <a:xfrm>
            <a:off x="9105141" y="23545248"/>
            <a:ext cx="3921287" cy="4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→ BRAZIL (ORIGIN OF CA EXPORTS</a:t>
            </a:r>
            <a:r>
              <a:rPr lang="en-US" sz="7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40408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4668B-7C3C-A7D3-3719-DBE014E4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2">
            <a:extLst>
              <a:ext uri="{FF2B5EF4-FFF2-40B4-BE49-F238E27FC236}">
                <a16:creationId xmlns:a16="http://schemas.microsoft.com/office/drawing/2014/main" id="{8044248D-4E21-7CE4-25C4-0D5C42FC5894}"/>
              </a:ext>
            </a:extLst>
          </p:cNvPr>
          <p:cNvSpPr/>
          <p:nvPr/>
        </p:nvSpPr>
        <p:spPr>
          <a:xfrm>
            <a:off x="8631628" y="6807065"/>
            <a:ext cx="2519871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1C1A7F77-2721-23AB-EFF4-B6310895BD2C}"/>
              </a:ext>
            </a:extLst>
          </p:cNvPr>
          <p:cNvSpPr/>
          <p:nvPr/>
        </p:nvSpPr>
        <p:spPr>
          <a:xfrm>
            <a:off x="260522" y="6804642"/>
            <a:ext cx="2519871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84275CF-2941-BA4F-C116-4AD87CAEAA17}"/>
              </a:ext>
            </a:extLst>
          </p:cNvPr>
          <p:cNvSpPr/>
          <p:nvPr/>
        </p:nvSpPr>
        <p:spPr>
          <a:xfrm>
            <a:off x="141099" y="12139253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Performance</a:t>
            </a:r>
            <a:endParaRPr lang="en-US" sz="2800" dirty="0">
              <a:solidFill>
                <a:srgbClr val="52515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ED1F232-36DF-2C69-7347-9E309A38815D}"/>
              </a:ext>
            </a:extLst>
          </p:cNvPr>
          <p:cNvSpPr/>
          <p:nvPr/>
        </p:nvSpPr>
        <p:spPr>
          <a:xfrm>
            <a:off x="260522" y="6804643"/>
            <a:ext cx="59997" cy="1259935"/>
          </a:xfrm>
          <a:prstGeom prst="rect">
            <a:avLst/>
          </a:prstGeom>
          <a:solidFill>
            <a:srgbClr val="FCCB18"/>
          </a:solidFill>
          <a:ln w="12700">
            <a:solidFill>
              <a:srgbClr val="FCCB18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4F1B242-11A4-788D-9A4B-F8855550A0F3}"/>
              </a:ext>
            </a:extLst>
          </p:cNvPr>
          <p:cNvSpPr/>
          <p:nvPr/>
        </p:nvSpPr>
        <p:spPr>
          <a:xfrm>
            <a:off x="689232" y="6924634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412" b="1" dirty="0">
                <a:solidFill>
                  <a:srgbClr val="FCCB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3412" dirty="0">
              <a:solidFill>
                <a:srgbClr val="FCCB18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DD9726C-9E27-05F0-1B83-7D2AA79A333F}"/>
              </a:ext>
            </a:extLst>
          </p:cNvPr>
          <p:cNvSpPr/>
          <p:nvPr/>
        </p:nvSpPr>
        <p:spPr>
          <a:xfrm>
            <a:off x="689232" y="7535406"/>
            <a:ext cx="2279883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Canada Export Value</a:t>
            </a:r>
            <a:endParaRPr lang="en-US" sz="1312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119BD50-886C-D806-CD54-D9D9BE835E2B}"/>
              </a:ext>
            </a:extLst>
          </p:cNvPr>
          <p:cNvSpPr/>
          <p:nvPr/>
        </p:nvSpPr>
        <p:spPr>
          <a:xfrm>
            <a:off x="785226" y="7787392"/>
            <a:ext cx="2183886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vs 2024</a:t>
            </a:r>
            <a:endParaRPr lang="en-US" sz="1400" dirty="0">
              <a:solidFill>
                <a:srgbClr val="525151"/>
              </a:solidFill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D5A99B82-6842-EABC-3B43-926A030E7AA1}"/>
              </a:ext>
            </a:extLst>
          </p:cNvPr>
          <p:cNvSpPr/>
          <p:nvPr/>
        </p:nvSpPr>
        <p:spPr>
          <a:xfrm>
            <a:off x="3160014" y="6804643"/>
            <a:ext cx="2519871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CB0C89B-8BF5-1ED6-0EEC-3F9CC326A954}"/>
              </a:ext>
            </a:extLst>
          </p:cNvPr>
          <p:cNvSpPr/>
          <p:nvPr/>
        </p:nvSpPr>
        <p:spPr>
          <a:xfrm>
            <a:off x="3340005" y="6924634"/>
            <a:ext cx="2279883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412" b="1" dirty="0">
                <a:solidFill>
                  <a:srgbClr val="FCCB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$12.1B</a:t>
            </a:r>
            <a:endParaRPr lang="en-US" sz="3412" dirty="0">
              <a:solidFill>
                <a:srgbClr val="FCCB18"/>
              </a:solidFill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CEA99C7-1158-AA44-8DBC-64878A4A2AF0}"/>
              </a:ext>
            </a:extLst>
          </p:cNvPr>
          <p:cNvSpPr/>
          <p:nvPr/>
        </p:nvSpPr>
        <p:spPr>
          <a:xfrm>
            <a:off x="3340005" y="7535406"/>
            <a:ext cx="2279883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Canada Import Value</a:t>
            </a:r>
            <a:endParaRPr lang="en-US" sz="1312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E5320E8-E07C-6FEE-14AB-6FEC3C585665}"/>
              </a:ext>
            </a:extLst>
          </p:cNvPr>
          <p:cNvSpPr/>
          <p:nvPr/>
        </p:nvSpPr>
        <p:spPr>
          <a:xfrm>
            <a:off x="3340005" y="7787392"/>
            <a:ext cx="2279883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countries → Canada</a:t>
            </a:r>
            <a:endParaRPr lang="en-US" sz="120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5EA92B96-15A3-F01F-411D-610FC8321E5A}"/>
              </a:ext>
            </a:extLst>
          </p:cNvPr>
          <p:cNvSpPr/>
          <p:nvPr/>
        </p:nvSpPr>
        <p:spPr>
          <a:xfrm>
            <a:off x="5919872" y="6804643"/>
            <a:ext cx="2519871" cy="125993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1D88E044-DF54-052A-5F2B-C3B87216F961}"/>
              </a:ext>
            </a:extLst>
          </p:cNvPr>
          <p:cNvSpPr/>
          <p:nvPr/>
        </p:nvSpPr>
        <p:spPr>
          <a:xfrm>
            <a:off x="6099863" y="6924634"/>
            <a:ext cx="2279883" cy="692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r>
              <a:rPr lang="en-US" sz="3412" b="1" dirty="0">
                <a:solidFill>
                  <a:srgbClr val="FCCB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-$3.7B</a:t>
            </a:r>
            <a:endParaRPr lang="en-US" sz="3412" dirty="0">
              <a:solidFill>
                <a:srgbClr val="FCCB18"/>
              </a:solidFill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94A8ED13-35DF-04A8-9EAF-A67F5334EC0E}"/>
              </a:ext>
            </a:extLst>
          </p:cNvPr>
          <p:cNvSpPr/>
          <p:nvPr/>
        </p:nvSpPr>
        <p:spPr>
          <a:xfrm>
            <a:off x="6099863" y="7535406"/>
            <a:ext cx="2279883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Balance</a:t>
            </a:r>
            <a:endParaRPr lang="en-US" sz="1312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17504219-449D-DDB4-CC52-833F5B426F47}"/>
              </a:ext>
            </a:extLst>
          </p:cNvPr>
          <p:cNvSpPr/>
          <p:nvPr/>
        </p:nvSpPr>
        <p:spPr>
          <a:xfrm>
            <a:off x="6099863" y="7787392"/>
            <a:ext cx="2279883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minus imports</a:t>
            </a:r>
            <a:endParaRPr lang="en-US" sz="12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A560BA0-37D6-DC73-993F-808555E22FDD}"/>
              </a:ext>
            </a:extLst>
          </p:cNvPr>
          <p:cNvSpPr/>
          <p:nvPr/>
        </p:nvSpPr>
        <p:spPr>
          <a:xfrm>
            <a:off x="8631628" y="6817237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noFill/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A79BB860-1EB0-B68E-4186-8CA26A40D1F6}"/>
              </a:ext>
            </a:extLst>
          </p:cNvPr>
          <p:cNvSpPr/>
          <p:nvPr/>
        </p:nvSpPr>
        <p:spPr>
          <a:xfrm>
            <a:off x="8811618" y="6942906"/>
            <a:ext cx="2339880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412" b="1" dirty="0">
                <a:solidFill>
                  <a:srgbClr val="E39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$1.2B</a:t>
            </a:r>
            <a:endParaRPr lang="en-US" sz="3412" dirty="0">
              <a:solidFill>
                <a:srgbClr val="E3932B"/>
              </a:solidFill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9A59CDC-E83C-66B5-719A-F0B6818FC91D}"/>
              </a:ext>
            </a:extLst>
          </p:cNvPr>
          <p:cNvSpPr/>
          <p:nvPr/>
        </p:nvSpPr>
        <p:spPr>
          <a:xfrm>
            <a:off x="8811618" y="7553678"/>
            <a:ext cx="2339880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Export Volume</a:t>
            </a:r>
            <a:endParaRPr lang="en-US" sz="1312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0CF77F8-83F6-1229-B67F-A2B55800FECC}"/>
              </a:ext>
            </a:extLst>
          </p:cNvPr>
          <p:cNvSpPr/>
          <p:nvPr/>
        </p:nvSpPr>
        <p:spPr>
          <a:xfrm>
            <a:off x="8811618" y="7805664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→ Canada</a:t>
            </a:r>
            <a:endParaRPr lang="en-US" sz="12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7A31A0-C562-229F-79F6-36C39A743BAB}"/>
              </a:ext>
            </a:extLst>
          </p:cNvPr>
          <p:cNvCxnSpPr/>
          <p:nvPr/>
        </p:nvCxnSpPr>
        <p:spPr>
          <a:xfrm flipV="1">
            <a:off x="700139" y="7787392"/>
            <a:ext cx="0" cy="188967"/>
          </a:xfrm>
          <a:prstGeom prst="straightConnector1">
            <a:avLst/>
          </a:prstGeom>
          <a:ln w="0">
            <a:solidFill>
              <a:srgbClr val="56A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4" descr="Build Elegant Balance-of-Trade Charts with Matplotlib | by Lee Vaughan |  Data Science Collective | Medium">
            <a:extLst>
              <a:ext uri="{FF2B5EF4-FFF2-40B4-BE49-F238E27FC236}">
                <a16:creationId xmlns:a16="http://schemas.microsoft.com/office/drawing/2014/main" id="{2D01E34F-AA7C-A7D9-84AE-CD7DF0735C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" t="12277" r="1131" b="5531"/>
          <a:stretch>
            <a:fillRect/>
          </a:stretch>
        </p:blipFill>
        <p:spPr bwMode="auto">
          <a:xfrm>
            <a:off x="320519" y="9107132"/>
            <a:ext cx="6636549" cy="290383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 27">
            <a:extLst>
              <a:ext uri="{FF2B5EF4-FFF2-40B4-BE49-F238E27FC236}">
                <a16:creationId xmlns:a16="http://schemas.microsoft.com/office/drawing/2014/main" id="{766EFACB-7F5B-8C99-633E-7CA19426C859}"/>
              </a:ext>
            </a:extLst>
          </p:cNvPr>
          <p:cNvSpPr/>
          <p:nvPr/>
        </p:nvSpPr>
        <p:spPr>
          <a:xfrm>
            <a:off x="206291" y="8478059"/>
            <a:ext cx="6453224" cy="352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MONTHLY TRADE VALUE TREND — CANADA EXPORTS VS IMPORTS</a:t>
            </a:r>
            <a:endParaRPr lang="en-US" sz="1500" dirty="0">
              <a:solidFill>
                <a:srgbClr val="59595B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FF1DCC-85F8-82A9-0E45-3B514B118608}"/>
              </a:ext>
            </a:extLst>
          </p:cNvPr>
          <p:cNvCxnSpPr/>
          <p:nvPr/>
        </p:nvCxnSpPr>
        <p:spPr>
          <a:xfrm>
            <a:off x="0" y="5734147"/>
            <a:ext cx="14399166" cy="0"/>
          </a:xfrm>
          <a:prstGeom prst="line">
            <a:avLst/>
          </a:prstGeom>
          <a:ln w="41275" cmpd="sng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Chart 0">
            <a:extLst>
              <a:ext uri="{FF2B5EF4-FFF2-40B4-BE49-F238E27FC236}">
                <a16:creationId xmlns:a16="http://schemas.microsoft.com/office/drawing/2014/main" id="{2A39F206-6D99-8082-C914-44B398E7BEA7}"/>
              </a:ext>
            </a:extLst>
          </p:cNvPr>
          <p:cNvGraphicFramePr/>
          <p:nvPr/>
        </p:nvGraphicFramePr>
        <p:xfrm>
          <a:off x="206291" y="13876058"/>
          <a:ext cx="6631831" cy="2834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 4">
            <a:extLst>
              <a:ext uri="{FF2B5EF4-FFF2-40B4-BE49-F238E27FC236}">
                <a16:creationId xmlns:a16="http://schemas.microsoft.com/office/drawing/2014/main" id="{99AD070E-9410-9CC5-85BB-4A6047917822}"/>
              </a:ext>
            </a:extLst>
          </p:cNvPr>
          <p:cNvSpPr/>
          <p:nvPr/>
        </p:nvSpPr>
        <p:spPr>
          <a:xfrm>
            <a:off x="161863" y="12796035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Which products drive the most trade value · grouped by HS chapter</a:t>
            </a:r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ED64C272-DD8C-1252-0682-48243F037452}"/>
              </a:ext>
            </a:extLst>
          </p:cNvPr>
          <p:cNvSpPr/>
          <p:nvPr/>
        </p:nvSpPr>
        <p:spPr>
          <a:xfrm>
            <a:off x="11343384" y="6801388"/>
            <a:ext cx="2519871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46" name="Shape 23">
            <a:extLst>
              <a:ext uri="{FF2B5EF4-FFF2-40B4-BE49-F238E27FC236}">
                <a16:creationId xmlns:a16="http://schemas.microsoft.com/office/drawing/2014/main" id="{BAB13EC4-51D6-86D7-CF54-6D7D6695A3CD}"/>
              </a:ext>
            </a:extLst>
          </p:cNvPr>
          <p:cNvSpPr/>
          <p:nvPr/>
        </p:nvSpPr>
        <p:spPr>
          <a:xfrm>
            <a:off x="11343386" y="6817238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noFill/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E598F033-D5D8-1A4B-D533-BE025E0782FF}"/>
              </a:ext>
            </a:extLst>
          </p:cNvPr>
          <p:cNvSpPr/>
          <p:nvPr/>
        </p:nvSpPr>
        <p:spPr>
          <a:xfrm>
            <a:off x="11523374" y="6937229"/>
            <a:ext cx="2339880" cy="692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412" b="1" dirty="0">
                <a:solidFill>
                  <a:srgbClr val="E39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$1.2B</a:t>
            </a:r>
            <a:endParaRPr lang="en-US" sz="3412" dirty="0">
              <a:solidFill>
                <a:srgbClr val="E3932B"/>
              </a:solidFill>
            </a:endParaRPr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20356980-B809-4C22-9E2C-D0D96D079E5E}"/>
              </a:ext>
            </a:extLst>
          </p:cNvPr>
          <p:cNvSpPr/>
          <p:nvPr/>
        </p:nvSpPr>
        <p:spPr>
          <a:xfrm>
            <a:off x="11523374" y="7548001"/>
            <a:ext cx="2339880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Import Volume</a:t>
            </a:r>
            <a:endParaRPr lang="en-US" sz="1312" dirty="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03BF5265-9192-4C35-D577-FA65D4D3893D}"/>
              </a:ext>
            </a:extLst>
          </p:cNvPr>
          <p:cNvSpPr/>
          <p:nvPr/>
        </p:nvSpPr>
        <p:spPr>
          <a:xfrm>
            <a:off x="11523374" y="7799987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→ Brazil</a:t>
            </a:r>
            <a:endParaRPr lang="en-US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E6743A-3DB0-9D8A-1A8F-D14DFC2CF612}"/>
              </a:ext>
            </a:extLst>
          </p:cNvPr>
          <p:cNvSpPr/>
          <p:nvPr/>
        </p:nvSpPr>
        <p:spPr>
          <a:xfrm>
            <a:off x="-7162" y="3575968"/>
            <a:ext cx="14399166" cy="129322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6FA8F0CF-78FC-6F36-0464-5A3D01E444C3}"/>
              </a:ext>
            </a:extLst>
          </p:cNvPr>
          <p:cNvSpPr/>
          <p:nvPr/>
        </p:nvSpPr>
        <p:spPr>
          <a:xfrm>
            <a:off x="417436" y="3752850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Arial Narrow" panose="020B0604020202020204" pitchFamily="34" charset="0"/>
              </a:rPr>
              <a:t>Canada × Brazil Trade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2" descr="FCBB 🇨🇦🇧🇷 (@fcbbdigital) • Instagram photos and videos">
            <a:extLst>
              <a:ext uri="{FF2B5EF4-FFF2-40B4-BE49-F238E27FC236}">
                <a16:creationId xmlns:a16="http://schemas.microsoft.com/office/drawing/2014/main" id="{56512E15-44B5-FD72-2395-61918C96D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3315" y="3860635"/>
            <a:ext cx="1472123" cy="1536406"/>
          </a:xfrm>
          <a:prstGeom prst="rect">
            <a:avLst/>
          </a:prstGeom>
          <a:noFill/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75065ECB-4972-E87C-4249-1C02024C7216}"/>
              </a:ext>
            </a:extLst>
          </p:cNvPr>
          <p:cNvSpPr/>
          <p:nvPr/>
        </p:nvSpPr>
        <p:spPr>
          <a:xfrm>
            <a:off x="417436" y="4520667"/>
            <a:ext cx="6173931" cy="159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 flow, balance, and year-over-year trend · 2024–2025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2D57A8EC-3A4B-1F25-18BE-90265A75F8BC}"/>
              </a:ext>
            </a:extLst>
          </p:cNvPr>
          <p:cNvSpPr/>
          <p:nvPr/>
        </p:nvSpPr>
        <p:spPr>
          <a:xfrm>
            <a:off x="3149103" y="6810604"/>
            <a:ext cx="59997" cy="1259935"/>
          </a:xfrm>
          <a:prstGeom prst="rect">
            <a:avLst/>
          </a:prstGeom>
          <a:solidFill>
            <a:srgbClr val="FCCB18"/>
          </a:solidFill>
          <a:ln w="12700">
            <a:solidFill>
              <a:srgbClr val="FCCB18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4BAF5AD6-4D2D-5700-CC99-4218CDF81E85}"/>
              </a:ext>
            </a:extLst>
          </p:cNvPr>
          <p:cNvSpPr/>
          <p:nvPr/>
        </p:nvSpPr>
        <p:spPr>
          <a:xfrm>
            <a:off x="5924021" y="6810604"/>
            <a:ext cx="59997" cy="1259935"/>
          </a:xfrm>
          <a:prstGeom prst="rect">
            <a:avLst/>
          </a:prstGeom>
          <a:solidFill>
            <a:srgbClr val="FCCB18"/>
          </a:solidFill>
          <a:ln w="12700">
            <a:solidFill>
              <a:srgbClr val="FCCB18"/>
            </a:solidFill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801B7045-E1A8-9B00-AD50-9B8FF60AC17A}"/>
              </a:ext>
            </a:extLst>
          </p:cNvPr>
          <p:cNvSpPr/>
          <p:nvPr/>
        </p:nvSpPr>
        <p:spPr>
          <a:xfrm>
            <a:off x="10690973" y="5275982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 2024 – Apr 2025</a:t>
            </a: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3ED59A34-4089-0BCC-7293-E8D01648D898}"/>
              </a:ext>
            </a:extLst>
          </p:cNvPr>
          <p:cNvSpPr/>
          <p:nvPr/>
        </p:nvSpPr>
        <p:spPr>
          <a:xfrm rot="10800000">
            <a:off x="13049282" y="5401424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7B557412-DFED-6164-ACC6-5912D506F552}"/>
              </a:ext>
            </a:extLst>
          </p:cNvPr>
          <p:cNvSpPr/>
          <p:nvPr/>
        </p:nvSpPr>
        <p:spPr>
          <a:xfrm>
            <a:off x="8052602" y="5272488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Trade Type</a:t>
            </a:r>
          </a:p>
        </p:txBody>
      </p:sp>
      <p:sp>
        <p:nvSpPr>
          <p:cNvPr id="40" name="Triangle 39">
            <a:extLst>
              <a:ext uri="{FF2B5EF4-FFF2-40B4-BE49-F238E27FC236}">
                <a16:creationId xmlns:a16="http://schemas.microsoft.com/office/drawing/2014/main" id="{51FB86E9-06D5-C7E4-5E0D-4FB32B8EBBF4}"/>
              </a:ext>
            </a:extLst>
          </p:cNvPr>
          <p:cNvSpPr/>
          <p:nvPr/>
        </p:nvSpPr>
        <p:spPr>
          <a:xfrm rot="10800000">
            <a:off x="10410911" y="5397930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8E11915D-4329-3D3D-8ECF-7545B95447B5}"/>
              </a:ext>
            </a:extLst>
          </p:cNvPr>
          <p:cNvSpPr/>
          <p:nvPr/>
        </p:nvSpPr>
        <p:spPr>
          <a:xfrm>
            <a:off x="5414231" y="5267464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Province</a:t>
            </a:r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FF601B69-EA61-BE8A-B56F-EC20BEABF1F9}"/>
              </a:ext>
            </a:extLst>
          </p:cNvPr>
          <p:cNvSpPr/>
          <p:nvPr/>
        </p:nvSpPr>
        <p:spPr>
          <a:xfrm rot="10800000">
            <a:off x="7772540" y="5392906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FB471E06-45D1-963D-2D30-6D391C366102}"/>
              </a:ext>
            </a:extLst>
          </p:cNvPr>
          <p:cNvSpPr/>
          <p:nvPr/>
        </p:nvSpPr>
        <p:spPr>
          <a:xfrm>
            <a:off x="2775860" y="5262328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Commodity</a:t>
            </a:r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F118A23D-D36A-2ADF-8CCC-45918D55A526}"/>
              </a:ext>
            </a:extLst>
          </p:cNvPr>
          <p:cNvSpPr/>
          <p:nvPr/>
        </p:nvSpPr>
        <p:spPr>
          <a:xfrm rot="10800000">
            <a:off x="5134169" y="5387770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98AF348A-140E-7292-A1E9-89519BA5BAE0}"/>
              </a:ext>
            </a:extLst>
          </p:cNvPr>
          <p:cNvSpPr/>
          <p:nvPr/>
        </p:nvSpPr>
        <p:spPr>
          <a:xfrm>
            <a:off x="137489" y="5260352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1BBB7D86-19CE-943D-F7F8-B13F161D86C3}"/>
              </a:ext>
            </a:extLst>
          </p:cNvPr>
          <p:cNvSpPr/>
          <p:nvPr/>
        </p:nvSpPr>
        <p:spPr>
          <a:xfrm rot="10800000">
            <a:off x="2495798" y="5385794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FBDAFE8B-FC60-04C8-7D66-14573DA8E8AF}"/>
              </a:ext>
            </a:extLst>
          </p:cNvPr>
          <p:cNvSpPr/>
          <p:nvPr/>
        </p:nvSpPr>
        <p:spPr>
          <a:xfrm>
            <a:off x="137489" y="5703690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2800" dirty="0">
              <a:solidFill>
                <a:srgbClr val="525151"/>
              </a:solidFill>
            </a:endParaRPr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377AE9CB-E9FB-CCF0-91CB-B29A86989BBE}"/>
              </a:ext>
            </a:extLst>
          </p:cNvPr>
          <p:cNvSpPr/>
          <p:nvPr/>
        </p:nvSpPr>
        <p:spPr>
          <a:xfrm>
            <a:off x="137488" y="6385857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Total trade flow, balance, and year-over-year trend </a:t>
            </a: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CECD1252-537B-D4F6-6933-96F183AD3A4F}"/>
              </a:ext>
            </a:extLst>
          </p:cNvPr>
          <p:cNvSpPr/>
          <p:nvPr/>
        </p:nvSpPr>
        <p:spPr>
          <a:xfrm>
            <a:off x="210142" y="1347372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TOP 10 HS2 CHAPTERS BY TOTAL VALUE (CAD)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160A9D74-7D1B-24CB-6973-2546DF99C951}"/>
              </a:ext>
            </a:extLst>
          </p:cNvPr>
          <p:cNvSpPr/>
          <p:nvPr/>
        </p:nvSpPr>
        <p:spPr>
          <a:xfrm>
            <a:off x="8939262" y="13698270"/>
            <a:ext cx="3094243" cy="34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TOP 5 COMMODITIES —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→ Canada</a:t>
            </a:r>
            <a:endParaRPr lang="en-US" sz="1600" dirty="0"/>
          </a:p>
          <a:p>
            <a:endParaRPr lang="en-US" sz="1500" b="1" kern="0" spc="300" dirty="0">
              <a:solidFill>
                <a:srgbClr val="59595B"/>
              </a:solidFill>
              <a:latin typeface="Calibri" pitchFamily="34" charset="0"/>
              <a:cs typeface="Calibri" pitchFamily="34" charset="-120"/>
            </a:endParaRPr>
          </a:p>
        </p:txBody>
      </p:sp>
      <p:graphicFrame>
        <p:nvGraphicFramePr>
          <p:cNvPr id="62" name="Table 0">
            <a:extLst>
              <a:ext uri="{FF2B5EF4-FFF2-40B4-BE49-F238E27FC236}">
                <a16:creationId xmlns:a16="http://schemas.microsoft.com/office/drawing/2014/main" id="{1C90652B-315B-252D-93D7-308B70A50C5E}"/>
              </a:ext>
            </a:extLst>
          </p:cNvPr>
          <p:cNvGraphicFramePr>
            <a:graphicFrameLocks noGrp="1"/>
          </p:cNvGraphicFramePr>
          <p:nvPr/>
        </p:nvGraphicFramePr>
        <p:xfrm>
          <a:off x="8379745" y="14096545"/>
          <a:ext cx="4001690" cy="2407422"/>
        </p:xfrm>
        <a:graphic>
          <a:graphicData uri="http://schemas.openxmlformats.org/drawingml/2006/table">
            <a:tbl>
              <a:tblPr/>
              <a:tblGrid>
                <a:gridCol w="2160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Commodity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4407 Lumber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$142M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+8%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8412 Hydraulic eng.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$98M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+3%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2106 Food prep.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$87M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-2%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1905 Baked goods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$71M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+12%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4801 Newsprint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$65M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+1%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3" name="Picture 4" descr="Build Elegant Balance-of-Trade Charts with Matplotlib | by Lee Vaughan |  Data Science Collective | Medium">
            <a:extLst>
              <a:ext uri="{FF2B5EF4-FFF2-40B4-BE49-F238E27FC236}">
                <a16:creationId xmlns:a16="http://schemas.microsoft.com/office/drawing/2014/main" id="{3946DF8C-D3CF-8C01-583F-CEA89CFBD1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" t="12277" r="1131" b="5531"/>
          <a:stretch>
            <a:fillRect/>
          </a:stretch>
        </p:blipFill>
        <p:spPr bwMode="auto">
          <a:xfrm>
            <a:off x="7443147" y="9107132"/>
            <a:ext cx="6636549" cy="290383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 27">
            <a:extLst>
              <a:ext uri="{FF2B5EF4-FFF2-40B4-BE49-F238E27FC236}">
                <a16:creationId xmlns:a16="http://schemas.microsoft.com/office/drawing/2014/main" id="{82916D18-C13C-3BC7-17DF-F40061422311}"/>
              </a:ext>
            </a:extLst>
          </p:cNvPr>
          <p:cNvSpPr/>
          <p:nvPr/>
        </p:nvSpPr>
        <p:spPr>
          <a:xfrm>
            <a:off x="7215075" y="8469372"/>
            <a:ext cx="6453224" cy="352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MONTHLY TRADE VALUE TREND — CANADA EXPORTS VS IMPORTS</a:t>
            </a:r>
            <a:endParaRPr lang="en-US" sz="1500" dirty="0">
              <a:solidFill>
                <a:srgbClr val="59595B"/>
              </a:solidFill>
            </a:endParaRPr>
          </a:p>
        </p:txBody>
      </p:sp>
      <p:sp>
        <p:nvSpPr>
          <p:cNvPr id="69" name="Text 2">
            <a:extLst>
              <a:ext uri="{FF2B5EF4-FFF2-40B4-BE49-F238E27FC236}">
                <a16:creationId xmlns:a16="http://schemas.microsoft.com/office/drawing/2014/main" id="{9C37DBEA-B098-E957-BC4E-5D180CE370BB}"/>
              </a:ext>
            </a:extLst>
          </p:cNvPr>
          <p:cNvSpPr/>
          <p:nvPr/>
        </p:nvSpPr>
        <p:spPr>
          <a:xfrm>
            <a:off x="113113" y="20314361"/>
            <a:ext cx="8735551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Insights</a:t>
            </a:r>
            <a:endParaRPr lang="en-US" sz="2800" dirty="0">
              <a:solidFill>
                <a:srgbClr val="525151"/>
              </a:solidFill>
            </a:endParaRPr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209A6209-F6D6-EEBF-FF3F-CC7BC701A5DE}"/>
              </a:ext>
            </a:extLst>
          </p:cNvPr>
          <p:cNvSpPr/>
          <p:nvPr/>
        </p:nvSpPr>
        <p:spPr>
          <a:xfrm>
            <a:off x="194807" y="21299315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trade originates in Canada and how Brazil compares to other partners</a:t>
            </a:r>
            <a:endParaRPr lang="en-US" dirty="0"/>
          </a:p>
        </p:txBody>
      </p:sp>
      <p:graphicFrame>
        <p:nvGraphicFramePr>
          <p:cNvPr id="72" name="Chart 0">
            <a:extLst>
              <a:ext uri="{FF2B5EF4-FFF2-40B4-BE49-F238E27FC236}">
                <a16:creationId xmlns:a16="http://schemas.microsoft.com/office/drawing/2014/main" id="{4B771EF2-C6FE-D6DD-A9DB-31BECB80A610}"/>
              </a:ext>
            </a:extLst>
          </p:cNvPr>
          <p:cNvGraphicFramePr/>
          <p:nvPr/>
        </p:nvGraphicFramePr>
        <p:xfrm>
          <a:off x="220565" y="21998512"/>
          <a:ext cx="6490790" cy="302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3" name="Text 7">
            <a:extLst>
              <a:ext uri="{FF2B5EF4-FFF2-40B4-BE49-F238E27FC236}">
                <a16:creationId xmlns:a16="http://schemas.microsoft.com/office/drawing/2014/main" id="{257C3C3B-20AD-7192-1F11-C4D674EEE531}"/>
              </a:ext>
            </a:extLst>
          </p:cNvPr>
          <p:cNvSpPr/>
          <p:nvPr/>
        </p:nvSpPr>
        <p:spPr>
          <a:xfrm>
            <a:off x="261982" y="217973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TOP 10 TRADE PARTNERS — VALUE RANK</a:t>
            </a: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93B2E241-D2A1-A42B-35FA-F97C69908CAB}"/>
              </a:ext>
            </a:extLst>
          </p:cNvPr>
          <p:cNvSpPr/>
          <p:nvPr/>
        </p:nvSpPr>
        <p:spPr>
          <a:xfrm>
            <a:off x="11343384" y="12446438"/>
            <a:ext cx="2519871" cy="3364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5959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IMPORTS</a:t>
            </a:r>
          </a:p>
        </p:txBody>
      </p:sp>
      <p:sp>
        <p:nvSpPr>
          <p:cNvPr id="75" name="Triangle 74">
            <a:extLst>
              <a:ext uri="{FF2B5EF4-FFF2-40B4-BE49-F238E27FC236}">
                <a16:creationId xmlns:a16="http://schemas.microsoft.com/office/drawing/2014/main" id="{14573E4A-C559-F0CB-9581-0401C105067B}"/>
              </a:ext>
            </a:extLst>
          </p:cNvPr>
          <p:cNvSpPr/>
          <p:nvPr/>
        </p:nvSpPr>
        <p:spPr>
          <a:xfrm rot="10800000">
            <a:off x="13701693" y="12571880"/>
            <a:ext cx="76530" cy="935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Shape 12">
            <a:extLst>
              <a:ext uri="{FF2B5EF4-FFF2-40B4-BE49-F238E27FC236}">
                <a16:creationId xmlns:a16="http://schemas.microsoft.com/office/drawing/2014/main" id="{E7323AB6-64B7-4DC4-97FC-04F4FD8A6816}"/>
              </a:ext>
            </a:extLst>
          </p:cNvPr>
          <p:cNvSpPr/>
          <p:nvPr/>
        </p:nvSpPr>
        <p:spPr>
          <a:xfrm>
            <a:off x="11299046" y="20163200"/>
            <a:ext cx="2519871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ADC457AB-A226-E98A-5588-59E5D4B97AB8}"/>
              </a:ext>
            </a:extLst>
          </p:cNvPr>
          <p:cNvSpPr/>
          <p:nvPr/>
        </p:nvSpPr>
        <p:spPr>
          <a:xfrm>
            <a:off x="11299046" y="20173372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noFill/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61B661C8-697B-29ED-BF4A-D53E813AA647}"/>
              </a:ext>
            </a:extLst>
          </p:cNvPr>
          <p:cNvSpPr/>
          <p:nvPr/>
        </p:nvSpPr>
        <p:spPr>
          <a:xfrm>
            <a:off x="11479036" y="20299041"/>
            <a:ext cx="2339880" cy="4206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500" b="1" dirty="0">
                <a:solidFill>
                  <a:srgbClr val="E39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 7 Partner </a:t>
            </a:r>
            <a:endParaRPr lang="en-US" sz="2500" dirty="0">
              <a:solidFill>
                <a:srgbClr val="E3932B"/>
              </a:solidFill>
            </a:endParaRPr>
          </a:p>
        </p:txBody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5A0358AF-65E8-AAE5-D6C2-ECEA17B494BB}"/>
              </a:ext>
            </a:extLst>
          </p:cNvPr>
          <p:cNvSpPr/>
          <p:nvPr/>
        </p:nvSpPr>
        <p:spPr>
          <a:xfrm>
            <a:off x="11444073" y="20658752"/>
            <a:ext cx="2339880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Export Volume</a:t>
            </a:r>
            <a:endParaRPr lang="en-US" sz="1312" dirty="0"/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435F6E22-3B81-D7FE-7842-A5587B90A004}"/>
              </a:ext>
            </a:extLst>
          </p:cNvPr>
          <p:cNvSpPr/>
          <p:nvPr/>
        </p:nvSpPr>
        <p:spPr>
          <a:xfrm>
            <a:off x="11444073" y="20976009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ranks 7</a:t>
            </a:r>
            <a:r>
              <a:rPr lang="en-US" sz="12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among Canada’s export destinations</a:t>
            </a:r>
            <a:endParaRPr lang="en-US" sz="1200" dirty="0"/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DC3939C2-57EB-52E4-6593-1B6F70AB67FE}"/>
              </a:ext>
            </a:extLst>
          </p:cNvPr>
          <p:cNvSpPr/>
          <p:nvPr/>
        </p:nvSpPr>
        <p:spPr>
          <a:xfrm>
            <a:off x="8488368" y="20173372"/>
            <a:ext cx="2519871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82" name="Shape 23">
            <a:extLst>
              <a:ext uri="{FF2B5EF4-FFF2-40B4-BE49-F238E27FC236}">
                <a16:creationId xmlns:a16="http://schemas.microsoft.com/office/drawing/2014/main" id="{539D9AB4-4597-B3AB-C7CB-385B034D8A98}"/>
              </a:ext>
            </a:extLst>
          </p:cNvPr>
          <p:cNvSpPr/>
          <p:nvPr/>
        </p:nvSpPr>
        <p:spPr>
          <a:xfrm>
            <a:off x="8488370" y="20189222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noFill/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83" name="Text 24">
            <a:extLst>
              <a:ext uri="{FF2B5EF4-FFF2-40B4-BE49-F238E27FC236}">
                <a16:creationId xmlns:a16="http://schemas.microsoft.com/office/drawing/2014/main" id="{2EEE4087-3CA3-F7B3-6793-02E9398E3406}"/>
              </a:ext>
            </a:extLst>
          </p:cNvPr>
          <p:cNvSpPr/>
          <p:nvPr/>
        </p:nvSpPr>
        <p:spPr>
          <a:xfrm>
            <a:off x="8668358" y="20189221"/>
            <a:ext cx="2244918" cy="6141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500" b="1" dirty="0">
                <a:solidFill>
                  <a:srgbClr val="E39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+12% YoY</a:t>
            </a:r>
            <a:endParaRPr lang="en-US" sz="2500" dirty="0">
              <a:solidFill>
                <a:srgbClr val="E3932B"/>
              </a:solidFill>
            </a:endParaRPr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07F909EF-19D2-514E-5461-3D252FDC71A0}"/>
              </a:ext>
            </a:extLst>
          </p:cNvPr>
          <p:cNvSpPr/>
          <p:nvPr/>
        </p:nvSpPr>
        <p:spPr>
          <a:xfrm>
            <a:off x="8668358" y="20919985"/>
            <a:ext cx="2339880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2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Export Volume</a:t>
            </a:r>
            <a:endParaRPr lang="en-US" sz="1312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77C973A2-185B-4CBD-856D-B21794F2E699}"/>
              </a:ext>
            </a:extLst>
          </p:cNvPr>
          <p:cNvSpPr/>
          <p:nvPr/>
        </p:nvSpPr>
        <p:spPr>
          <a:xfrm>
            <a:off x="8668358" y="21171971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trade volume grew in 2025</a:t>
            </a:r>
            <a:endParaRPr lang="en-US" sz="1200" dirty="0"/>
          </a:p>
        </p:txBody>
      </p:sp>
      <p:graphicFrame>
        <p:nvGraphicFramePr>
          <p:cNvPr id="86" name="Chart 0">
            <a:extLst>
              <a:ext uri="{FF2B5EF4-FFF2-40B4-BE49-F238E27FC236}">
                <a16:creationId xmlns:a16="http://schemas.microsoft.com/office/drawing/2014/main" id="{C9867992-9857-BD72-B05D-03965B9DB863}"/>
              </a:ext>
            </a:extLst>
          </p:cNvPr>
          <p:cNvGraphicFramePr/>
          <p:nvPr/>
        </p:nvGraphicFramePr>
        <p:xfrm>
          <a:off x="608327" y="18207621"/>
          <a:ext cx="53035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7" name="Text 2">
            <a:extLst>
              <a:ext uri="{FF2B5EF4-FFF2-40B4-BE49-F238E27FC236}">
                <a16:creationId xmlns:a16="http://schemas.microsoft.com/office/drawing/2014/main" id="{5A471546-FC95-CA45-89EF-54D31D5F30BE}"/>
              </a:ext>
            </a:extLst>
          </p:cNvPr>
          <p:cNvSpPr/>
          <p:nvPr/>
        </p:nvSpPr>
        <p:spPr>
          <a:xfrm>
            <a:off x="137489" y="16589736"/>
            <a:ext cx="9838613" cy="8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525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Positioning – Brazil’s Market Share by Product</a:t>
            </a:r>
            <a:endParaRPr lang="en-US" sz="2800" dirty="0">
              <a:solidFill>
                <a:srgbClr val="525151"/>
              </a:solidFill>
            </a:endParaRPr>
          </a:p>
        </p:txBody>
      </p:sp>
      <p:sp>
        <p:nvSpPr>
          <p:cNvPr id="88" name="Text 4">
            <a:extLst>
              <a:ext uri="{FF2B5EF4-FFF2-40B4-BE49-F238E27FC236}">
                <a16:creationId xmlns:a16="http://schemas.microsoft.com/office/drawing/2014/main" id="{50F3B4B4-BB65-2467-E7BC-2D6FF2E301AA}"/>
              </a:ext>
            </a:extLst>
          </p:cNvPr>
          <p:cNvSpPr/>
          <p:nvPr/>
        </p:nvSpPr>
        <p:spPr>
          <a:xfrm>
            <a:off x="158253" y="1724651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Brazil is gaining, holding, or losing ground relative to other countries</a:t>
            </a:r>
            <a:endParaRPr lang="en-US" dirty="0"/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AFCB8E25-F9D5-4A89-A43C-AC33B128E5E4}"/>
              </a:ext>
            </a:extLst>
          </p:cNvPr>
          <p:cNvSpPr/>
          <p:nvPr/>
        </p:nvSpPr>
        <p:spPr>
          <a:xfrm>
            <a:off x="206532" y="17924205"/>
            <a:ext cx="5893330" cy="6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IMPORT SHARE IN CANADA — TOP COMMODITY CATEGORIES (%)</a:t>
            </a:r>
            <a:endParaRPr lang="en-US" sz="1600" dirty="0"/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40FF2E8F-A30C-EE84-BD96-1591AB3C60CC}"/>
              </a:ext>
            </a:extLst>
          </p:cNvPr>
          <p:cNvSpPr/>
          <p:nvPr/>
        </p:nvSpPr>
        <p:spPr>
          <a:xfrm>
            <a:off x="7810805" y="17705677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300" dirty="0">
                <a:solidFill>
                  <a:srgbClr val="0D9488"/>
                </a:solidFill>
                <a:latin typeface="Calibri" pitchFamily="34" charset="0"/>
                <a:cs typeface="Calibri" pitchFamily="34" charset="-120"/>
              </a:rPr>
              <a:t>BRAZIL SHARE CHANGE YOY (PERCENTAGE POINTS)</a:t>
            </a:r>
          </a:p>
        </p:txBody>
      </p:sp>
      <p:graphicFrame>
        <p:nvGraphicFramePr>
          <p:cNvPr id="91" name="Chart 1">
            <a:extLst>
              <a:ext uri="{FF2B5EF4-FFF2-40B4-BE49-F238E27FC236}">
                <a16:creationId xmlns:a16="http://schemas.microsoft.com/office/drawing/2014/main" id="{62A2D6CE-39AF-426B-6B79-01AB0DE1CF0A}"/>
              </a:ext>
            </a:extLst>
          </p:cNvPr>
          <p:cNvGraphicFramePr/>
          <p:nvPr/>
        </p:nvGraphicFramePr>
        <p:xfrm>
          <a:off x="8135536" y="18189382"/>
          <a:ext cx="5030970" cy="1811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92" name="Chart 1">
            <a:extLst>
              <a:ext uri="{FF2B5EF4-FFF2-40B4-BE49-F238E27FC236}">
                <a16:creationId xmlns:a16="http://schemas.microsoft.com/office/drawing/2014/main" id="{9CA4A166-804C-E2F7-BAE4-BA5C8EF59B41}"/>
              </a:ext>
            </a:extLst>
          </p:cNvPr>
          <p:cNvGraphicFramePr/>
          <p:nvPr/>
        </p:nvGraphicFramePr>
        <p:xfrm>
          <a:off x="8355145" y="22195769"/>
          <a:ext cx="4026291" cy="2574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93" name="Text 8">
            <a:extLst>
              <a:ext uri="{FF2B5EF4-FFF2-40B4-BE49-F238E27FC236}">
                <a16:creationId xmlns:a16="http://schemas.microsoft.com/office/drawing/2014/main" id="{8F4083BB-CA10-04CF-1C2F-C1377C43DF6E}"/>
              </a:ext>
            </a:extLst>
          </p:cNvPr>
          <p:cNvSpPr/>
          <p:nvPr/>
        </p:nvSpPr>
        <p:spPr>
          <a:xfrm>
            <a:off x="8866832" y="21644669"/>
            <a:ext cx="3656041" cy="57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59595B"/>
                </a:solidFill>
                <a:latin typeface="Calibri" pitchFamily="34" charset="0"/>
                <a:cs typeface="Calibri" pitchFamily="34" charset="-120"/>
              </a:rPr>
              <a:t>EXPORT VALUE BY PROVINCE</a:t>
            </a:r>
          </a:p>
        </p:txBody>
      </p:sp>
      <p:sp>
        <p:nvSpPr>
          <p:cNvPr id="94" name="Shape 12">
            <a:extLst>
              <a:ext uri="{FF2B5EF4-FFF2-40B4-BE49-F238E27FC236}">
                <a16:creationId xmlns:a16="http://schemas.microsoft.com/office/drawing/2014/main" id="{A6AD4ED0-5381-C135-C1BD-F72686469885}"/>
              </a:ext>
            </a:extLst>
          </p:cNvPr>
          <p:cNvSpPr/>
          <p:nvPr/>
        </p:nvSpPr>
        <p:spPr>
          <a:xfrm>
            <a:off x="6546621" y="12263992"/>
            <a:ext cx="2519871" cy="125993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362"/>
          </a:p>
        </p:txBody>
      </p:sp>
      <p:sp>
        <p:nvSpPr>
          <p:cNvPr id="95" name="Shape 23">
            <a:extLst>
              <a:ext uri="{FF2B5EF4-FFF2-40B4-BE49-F238E27FC236}">
                <a16:creationId xmlns:a16="http://schemas.microsoft.com/office/drawing/2014/main" id="{467F9D90-0C4F-A43A-0EE9-2C6EAB6B0E9A}"/>
              </a:ext>
            </a:extLst>
          </p:cNvPr>
          <p:cNvSpPr/>
          <p:nvPr/>
        </p:nvSpPr>
        <p:spPr>
          <a:xfrm>
            <a:off x="6546623" y="12279842"/>
            <a:ext cx="59997" cy="1259935"/>
          </a:xfrm>
          <a:prstGeom prst="rect">
            <a:avLst/>
          </a:prstGeom>
          <a:solidFill>
            <a:srgbClr val="E3932B"/>
          </a:solidFill>
          <a:ln w="12700">
            <a:noFill/>
            <a:prstDash val="solid"/>
          </a:ln>
        </p:spPr>
        <p:txBody>
          <a:bodyPr/>
          <a:lstStyle/>
          <a:p>
            <a:endParaRPr lang="en-US" sz="2362"/>
          </a:p>
        </p:txBody>
      </p:sp>
      <p:sp>
        <p:nvSpPr>
          <p:cNvPr id="96" name="Text 24">
            <a:extLst>
              <a:ext uri="{FF2B5EF4-FFF2-40B4-BE49-F238E27FC236}">
                <a16:creationId xmlns:a16="http://schemas.microsoft.com/office/drawing/2014/main" id="{EA9B57BA-138A-04E3-F30A-577AA285B5FC}"/>
              </a:ext>
            </a:extLst>
          </p:cNvPr>
          <p:cNvSpPr/>
          <p:nvPr/>
        </p:nvSpPr>
        <p:spPr>
          <a:xfrm>
            <a:off x="6726611" y="12279841"/>
            <a:ext cx="2244918" cy="6141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500" b="1" dirty="0">
                <a:solidFill>
                  <a:srgbClr val="E39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115 Products</a:t>
            </a:r>
            <a:endParaRPr lang="en-US" sz="2500" dirty="0">
              <a:solidFill>
                <a:srgbClr val="E3932B"/>
              </a:solidFill>
            </a:endParaRPr>
          </a:p>
        </p:txBody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5993F486-51E9-9B0D-0CE7-7286D442C394}"/>
              </a:ext>
            </a:extLst>
          </p:cNvPr>
          <p:cNvSpPr/>
          <p:nvPr/>
        </p:nvSpPr>
        <p:spPr>
          <a:xfrm>
            <a:off x="6711355" y="13064560"/>
            <a:ext cx="2339880" cy="25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Total Number of imported products from Brazil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83898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8805</TotalTime>
  <Words>756</Words>
  <Application>Microsoft Macintosh PowerPoint</Application>
  <PresentationFormat>Custom</PresentationFormat>
  <Paragraphs>198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Midori Uemura Kawaguti</dc:creator>
  <cp:lastModifiedBy>Tatiana Midori Uemura Kawaguti</cp:lastModifiedBy>
  <cp:revision>5</cp:revision>
  <dcterms:created xsi:type="dcterms:W3CDTF">2026-04-20T19:24:15Z</dcterms:created>
  <dcterms:modified xsi:type="dcterms:W3CDTF">2026-05-03T22:11:28Z</dcterms:modified>
</cp:coreProperties>
</file>